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229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G:\Seemi\mphil\Thesis\Iot%20Confrence%20paper\EF\HighIntensity.ods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G:\Seemi\mphil\Thesis\Iot%20Confrence%20paper\EF\HighIntensity.ods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G:\Seemi\mphil\Thesis\Iot%20Confrence%20paper\EF\HighIntensity.ods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G:\Seemi\mphil\Thesis\Iot%20Confrence%20paper\EF\HighIntensity.ods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G:\Seemi\mphil\Thesis\Iot%20Confrence%20paper\EF\HighIntensity.ods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G:\Seemi\mphil\Thesis\Iot%20Confrence%20paper\EF\HighIntensity.ods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G:\Seemi\mphil\Thesis\Iot%20Confrence%20paper\EF\Low%20Intensity.ods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G:\Seemi\mphil\Thesis\Iot%20Confrence%20paper\EF\Low%20Intensity.ods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G:\Seemi\mphil\Thesis\Iot%20Confrence%20paper\EF\Low%20Intensity.ods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file:///G:\Seemi\mphil\Thesis\Iot%20Confrence%20paper\EF\Low%20Intensity.ods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G:\Seemi\mphil\Thesis\Iot%20Confrence%20paper\EF\Low%20Intensity.ods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file:///G:\Seemi\mphil\Thesis\Iot%20Confrence%20paper\EF\Low%20Intensity.ods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lIns="0" tIns="0" rIns="0" bIns="0"/>
          <a:lstStyle/>
          <a:p>
            <a:pPr marL="0" marR="0" indent="0" algn="ctr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3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r>
              <a: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Control Traffic Overhead</a:t>
            </a:r>
          </a:p>
        </c:rich>
      </c:tx>
      <c:overlay val="0"/>
      <c:spPr>
        <a:noFill/>
        <a:ln>
          <a:noFill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'10n_Contol_Traffic'!$B$1</c:f>
              <c:strCache>
                <c:ptCount val="1"/>
                <c:pt idx="0">
                  <c:v>Of0</c:v>
                </c:pt>
              </c:strCache>
            </c:strRef>
          </c:tx>
          <c:spPr>
            <a:ln w="28803" cap="rnd">
              <a:solidFill>
                <a:srgbClr val="004586"/>
              </a:solidFill>
              <a:custDash>
                <a:ds d="100000" sp="100000"/>
              </a:custDash>
              <a:round/>
            </a:ln>
          </c:spPr>
          <c:marker>
            <c:symbol val="square"/>
            <c:size val="7"/>
          </c:marker>
          <c:cat>
            <c:strRef>
              <c:f>'10n_Contol_Traffic'!$A$2:$A$4</c:f>
              <c:strCache>
                <c:ptCount val="3"/>
                <c:pt idx="0">
                  <c:v>50s</c:v>
                </c:pt>
                <c:pt idx="1">
                  <c:v>30s</c:v>
                </c:pt>
                <c:pt idx="2">
                  <c:v>10s</c:v>
                </c:pt>
              </c:strCache>
            </c:strRef>
          </c:cat>
          <c:val>
            <c:numRef>
              <c:f>'10n_Contol_Traffic'!$B$2:$B$4</c:f>
              <c:numCache>
                <c:formatCode>General</c:formatCode>
                <c:ptCount val="3"/>
                <c:pt idx="0">
                  <c:v>67.978042086001835</c:v>
                </c:pt>
                <c:pt idx="1">
                  <c:v>63.602714373843305</c:v>
                </c:pt>
                <c:pt idx="2">
                  <c:v>54.523463957426223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AD7-4D4A-BE77-849F676424AC}"/>
            </c:ext>
          </c:extLst>
        </c:ser>
        <c:ser>
          <c:idx val="1"/>
          <c:order val="1"/>
          <c:tx>
            <c:strRef>
              <c:f>'10n_Contol_Traffic'!$C$1</c:f>
              <c:strCache>
                <c:ptCount val="1"/>
                <c:pt idx="0">
                  <c:v>MRHOF</c:v>
                </c:pt>
              </c:strCache>
            </c:strRef>
          </c:tx>
          <c:spPr>
            <a:ln w="28803" cap="rnd">
              <a:solidFill>
                <a:srgbClr val="C00000"/>
              </a:solidFill>
              <a:prstDash val="solid"/>
              <a:round/>
            </a:ln>
          </c:spPr>
          <c:marker>
            <c:symbol val="diamond"/>
            <c:size val="7"/>
          </c:marker>
          <c:cat>
            <c:strRef>
              <c:f>'10n_Contol_Traffic'!$A$2:$A$4</c:f>
              <c:strCache>
                <c:ptCount val="3"/>
                <c:pt idx="0">
                  <c:v>50s</c:v>
                </c:pt>
                <c:pt idx="1">
                  <c:v>30s</c:v>
                </c:pt>
                <c:pt idx="2">
                  <c:v>10s</c:v>
                </c:pt>
              </c:strCache>
            </c:strRef>
          </c:cat>
          <c:val>
            <c:numRef>
              <c:f>'10n_Contol_Traffic'!$C$2:$C$4</c:f>
              <c:numCache>
                <c:formatCode>General</c:formatCode>
                <c:ptCount val="3"/>
                <c:pt idx="0">
                  <c:v>61.997828447339856</c:v>
                </c:pt>
                <c:pt idx="1">
                  <c:v>46.942446043165468</c:v>
                </c:pt>
                <c:pt idx="2">
                  <c:v>26.568265682656829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AD7-4D4A-BE77-849F676424AC}"/>
            </c:ext>
          </c:extLst>
        </c:ser>
        <c:ser>
          <c:idx val="2"/>
          <c:order val="2"/>
          <c:tx>
            <c:strRef>
              <c:f>'10n_Contol_Traffic'!$D$1</c:f>
              <c:strCache>
                <c:ptCount val="1"/>
                <c:pt idx="0">
                  <c:v>OF SEEMI</c:v>
                </c:pt>
              </c:strCache>
            </c:strRef>
          </c:tx>
          <c:spPr>
            <a:ln w="28803" cap="rnd">
              <a:solidFill>
                <a:srgbClr val="262626"/>
              </a:solidFill>
              <a:custDash>
                <a:ds d="300003" sp="300003"/>
              </a:custDash>
              <a:round/>
            </a:ln>
          </c:spPr>
          <c:cat>
            <c:strRef>
              <c:f>'10n_Contol_Traffic'!$A$2:$A$4</c:f>
              <c:strCache>
                <c:ptCount val="3"/>
                <c:pt idx="0">
                  <c:v>50s</c:v>
                </c:pt>
                <c:pt idx="1">
                  <c:v>30s</c:v>
                </c:pt>
                <c:pt idx="2">
                  <c:v>10s</c:v>
                </c:pt>
              </c:strCache>
            </c:strRef>
          </c:cat>
          <c:val>
            <c:numRef>
              <c:f>'10n_Contol_Traffic'!$D$2:$D$4</c:f>
              <c:numCache>
                <c:formatCode>General</c:formatCode>
                <c:ptCount val="3"/>
                <c:pt idx="0">
                  <c:v>60.225988700564969</c:v>
                </c:pt>
                <c:pt idx="1">
                  <c:v>46.020128087831658</c:v>
                </c:pt>
                <c:pt idx="2">
                  <c:v>22.611327280587982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AD7-4D4A-BE77-849F676424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406920"/>
        <c:axId val="87408560"/>
      </c:lineChart>
      <c:valAx>
        <c:axId val="87408560"/>
        <c:scaling>
          <c:orientation val="minMax"/>
          <c:max val="100"/>
          <c:min val="0"/>
        </c:scaling>
        <c:delete val="0"/>
        <c:axPos val="l"/>
        <c:majorGridlines>
          <c:spPr>
            <a:ln w="6345" cap="flat">
              <a:solidFill>
                <a:srgbClr val="B3B3B3"/>
              </a:solidFill>
              <a:prstDash val="solid"/>
              <a:round/>
            </a:ln>
          </c:spPr>
        </c:majorGridlines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rPr>
                  <a:t>Overhead [%]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87406920"/>
        <c:crossesAt val="1"/>
        <c:crossBetween val="between"/>
        <c:majorUnit val="20"/>
        <c:minorUnit val="10"/>
      </c:valAx>
      <c:catAx>
        <c:axId val="87406920"/>
        <c:scaling>
          <c:orientation val="minMax"/>
        </c:scaling>
        <c:delete val="0"/>
        <c:axPos val="b"/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 dirty="0">
                    <a:solidFill>
                      <a:srgbClr val="000000"/>
                    </a:solidFill>
                    <a:uFillTx/>
                    <a:latin typeface="Calibri"/>
                  </a:rPr>
                  <a:t>Traffic Intensity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87408560"/>
        <c:crossesAt val="0"/>
        <c:auto val="1"/>
        <c:lblAlgn val="ctr"/>
        <c:lblOffset val="100"/>
        <c:noMultiLvlLbl val="0"/>
      </c:catAx>
      <c:spPr>
        <a:noFill/>
        <a:ln w="9528">
          <a:solidFill>
            <a:srgbClr val="B3B3B3"/>
          </a:solidFill>
          <a:prstDash val="solid"/>
        </a:ln>
      </c:spPr>
    </c:plotArea>
    <c:legend>
      <c:legendPos val="b"/>
      <c:overlay val="0"/>
      <c:spPr>
        <a:noFill/>
        <a:ln>
          <a:noFill/>
        </a:ln>
      </c:spPr>
      <c:txPr>
        <a:bodyPr lIns="0" tIns="0" rIns="0" bIns="0"/>
        <a:lstStyle/>
        <a:p>
          <a:pPr marL="0" marR="0" indent="0" defTabSz="914400" fontAlgn="auto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tabLst/>
            <a:defRPr sz="1000" b="0" i="0" u="none" strike="noStrike" kern="1200" baseline="0">
              <a:solidFill>
                <a:srgbClr val="000000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 lIns="0" tIns="0" rIns="0" bIns="0"/>
    <a:lstStyle/>
    <a:p>
      <a:pPr marL="0" marR="0" indent="0" defTabSz="914400" fontAlgn="auto" hangingPunct="1">
        <a:lnSpc>
          <a:spcPct val="100000"/>
        </a:lnSpc>
        <a:spcBef>
          <a:spcPts val="0"/>
        </a:spcBef>
        <a:spcAft>
          <a:spcPts val="0"/>
        </a:spcAft>
        <a:tabLst/>
        <a:defRPr lang="en-US" sz="1000" b="0" i="0" u="none" strike="noStrike" kern="1200" baseline="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lIns="0" tIns="0" rIns="0" bIns="0"/>
          <a:lstStyle/>
          <a:p>
            <a:pPr marL="0" marR="0" indent="0" algn="ctr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lang="en-US" sz="13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r>
              <a: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Control Traffic Overhead</a:t>
            </a:r>
          </a:p>
        </c:rich>
      </c:tx>
      <c:overlay val="0"/>
      <c:spPr>
        <a:noFill/>
        <a:ln>
          <a:noFill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'20n_Contol_Traffic'!$B$1</c:f>
              <c:strCache>
                <c:ptCount val="1"/>
                <c:pt idx="0">
                  <c:v>Of0</c:v>
                </c:pt>
              </c:strCache>
            </c:strRef>
          </c:tx>
          <c:spPr>
            <a:ln w="28803" cap="rnd">
              <a:solidFill>
                <a:srgbClr val="004586"/>
              </a:solidFill>
              <a:custDash>
                <a:ds d="100000" sp="100000"/>
              </a:custDash>
              <a:round/>
            </a:ln>
          </c:spPr>
          <c:marker>
            <c:symbol val="square"/>
            <c:size val="7"/>
          </c:marker>
          <c:cat>
            <c:strRef>
              <c:f>'20n_Contol_Traffic'!$A$2:$A$4</c:f>
              <c:strCache>
                <c:ptCount val="3"/>
                <c:pt idx="0">
                  <c:v>50s</c:v>
                </c:pt>
                <c:pt idx="1">
                  <c:v>30s</c:v>
                </c:pt>
                <c:pt idx="2">
                  <c:v>10s</c:v>
                </c:pt>
              </c:strCache>
            </c:strRef>
          </c:cat>
          <c:val>
            <c:numRef>
              <c:f>'20n_Contol_Traffic'!$B$2:$B$4</c:f>
              <c:numCache>
                <c:formatCode>General</c:formatCode>
                <c:ptCount val="3"/>
                <c:pt idx="0">
                  <c:v>78.619425778863771</c:v>
                </c:pt>
                <c:pt idx="1">
                  <c:v>69.820971867007671</c:v>
                </c:pt>
                <c:pt idx="2">
                  <c:v>67.101635728726336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F23-4C90-B1AA-FA6763F1B2F6}"/>
            </c:ext>
          </c:extLst>
        </c:ser>
        <c:ser>
          <c:idx val="1"/>
          <c:order val="1"/>
          <c:tx>
            <c:strRef>
              <c:f>'20n_Contol_Traffic'!$C$1</c:f>
              <c:strCache>
                <c:ptCount val="1"/>
                <c:pt idx="0">
                  <c:v>MRHOF</c:v>
                </c:pt>
              </c:strCache>
            </c:strRef>
          </c:tx>
          <c:spPr>
            <a:ln w="28803" cap="rnd">
              <a:solidFill>
                <a:srgbClr val="C00000"/>
              </a:solidFill>
              <a:prstDash val="solid"/>
              <a:round/>
            </a:ln>
          </c:spPr>
          <c:marker>
            <c:symbol val="diamond"/>
            <c:size val="7"/>
          </c:marker>
          <c:cat>
            <c:strRef>
              <c:f>'20n_Contol_Traffic'!$A$2:$A$4</c:f>
              <c:strCache>
                <c:ptCount val="3"/>
                <c:pt idx="0">
                  <c:v>50s</c:v>
                </c:pt>
                <c:pt idx="1">
                  <c:v>30s</c:v>
                </c:pt>
                <c:pt idx="2">
                  <c:v>10s</c:v>
                </c:pt>
              </c:strCache>
            </c:strRef>
          </c:cat>
          <c:val>
            <c:numRef>
              <c:f>'20n_Contol_Traffic'!$C$2:$C$4</c:f>
              <c:numCache>
                <c:formatCode>General</c:formatCode>
                <c:ptCount val="3"/>
                <c:pt idx="0">
                  <c:v>63.730569948186535</c:v>
                </c:pt>
                <c:pt idx="1">
                  <c:v>51.894093686354381</c:v>
                </c:pt>
                <c:pt idx="2">
                  <c:v>29.588825496753884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F23-4C90-B1AA-FA6763F1B2F6}"/>
            </c:ext>
          </c:extLst>
        </c:ser>
        <c:ser>
          <c:idx val="2"/>
          <c:order val="2"/>
          <c:tx>
            <c:strRef>
              <c:f>'20n_Contol_Traffic'!$D$1</c:f>
              <c:strCache>
                <c:ptCount val="1"/>
                <c:pt idx="0">
                  <c:v>OF SEEMI</c:v>
                </c:pt>
              </c:strCache>
            </c:strRef>
          </c:tx>
          <c:spPr>
            <a:ln w="28803" cap="rnd">
              <a:solidFill>
                <a:srgbClr val="262626"/>
              </a:solidFill>
              <a:custDash>
                <a:ds d="300003" sp="300003"/>
              </a:custDash>
              <a:round/>
            </a:ln>
          </c:spPr>
          <c:cat>
            <c:strRef>
              <c:f>'20n_Contol_Traffic'!$A$2:$A$4</c:f>
              <c:strCache>
                <c:ptCount val="3"/>
                <c:pt idx="0">
                  <c:v>50s</c:v>
                </c:pt>
                <c:pt idx="1">
                  <c:v>30s</c:v>
                </c:pt>
                <c:pt idx="2">
                  <c:v>10s</c:v>
                </c:pt>
              </c:strCache>
            </c:strRef>
          </c:cat>
          <c:val>
            <c:numRef>
              <c:f>'20n_Contol_Traffic'!$D$2:$D$4</c:f>
              <c:numCache>
                <c:formatCode>General</c:formatCode>
                <c:ptCount val="3"/>
                <c:pt idx="0">
                  <c:v>63.936115404430701</c:v>
                </c:pt>
                <c:pt idx="1">
                  <c:v>50.126796280642438</c:v>
                </c:pt>
                <c:pt idx="2">
                  <c:v>35.402381811620351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F23-4C90-B1AA-FA6763F1B2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402984"/>
        <c:axId val="87402656"/>
      </c:lineChart>
      <c:valAx>
        <c:axId val="87402656"/>
        <c:scaling>
          <c:orientation val="minMax"/>
          <c:max val="100"/>
          <c:min val="0"/>
        </c:scaling>
        <c:delete val="0"/>
        <c:axPos val="l"/>
        <c:majorGridlines>
          <c:spPr>
            <a:ln w="6345" cap="flat">
              <a:solidFill>
                <a:srgbClr val="B3B3B3"/>
              </a:solidFill>
              <a:prstDash val="solid"/>
              <a:round/>
            </a:ln>
          </c:spPr>
        </c:majorGridlines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lang="en-US"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rPr>
                  <a:t>Overhead [%]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lang="en-US"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87402984"/>
        <c:crossesAt val="1"/>
        <c:crossBetween val="between"/>
        <c:majorUnit val="20"/>
        <c:minorUnit val="10"/>
      </c:valAx>
      <c:catAx>
        <c:axId val="87402984"/>
        <c:scaling>
          <c:orientation val="minMax"/>
        </c:scaling>
        <c:delete val="0"/>
        <c:axPos val="b"/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lang="en-US"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 dirty="0">
                    <a:solidFill>
                      <a:srgbClr val="000000"/>
                    </a:solidFill>
                    <a:uFillTx/>
                    <a:latin typeface="Calibri"/>
                  </a:rPr>
                  <a:t>Traffic Intensity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lang="en-US"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87402656"/>
        <c:crossesAt val="0"/>
        <c:auto val="1"/>
        <c:lblAlgn val="ctr"/>
        <c:lblOffset val="100"/>
        <c:noMultiLvlLbl val="0"/>
      </c:catAx>
      <c:spPr>
        <a:noFill/>
        <a:ln w="9528">
          <a:solidFill>
            <a:srgbClr val="B3B3B3"/>
          </a:solidFill>
          <a:prstDash val="solid"/>
        </a:ln>
      </c:spPr>
    </c:plotArea>
    <c:legend>
      <c:legendPos val="b"/>
      <c:overlay val="0"/>
      <c:spPr>
        <a:noFill/>
        <a:ln>
          <a:noFill/>
        </a:ln>
      </c:spPr>
      <c:txPr>
        <a:bodyPr lIns="0" tIns="0" rIns="0" bIns="0"/>
        <a:lstStyle/>
        <a:p>
          <a:pPr marL="0" marR="0" indent="0" defTabSz="914400" fontAlgn="auto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tabLst/>
            <a:defRPr lang="en-US" sz="1000" b="0" i="0" u="none" strike="noStrike" kern="1200" baseline="0">
              <a:solidFill>
                <a:srgbClr val="000000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 lIns="0" tIns="0" rIns="0" bIns="0"/>
    <a:lstStyle/>
    <a:p>
      <a:pPr marL="0" marR="0" indent="0" defTabSz="914400" fontAlgn="auto" hangingPunct="1">
        <a:lnSpc>
          <a:spcPct val="100000"/>
        </a:lnSpc>
        <a:spcBef>
          <a:spcPts val="0"/>
        </a:spcBef>
        <a:spcAft>
          <a:spcPts val="0"/>
        </a:spcAft>
        <a:tabLst/>
        <a:defRPr lang="en-US" sz="1000" b="0" i="0" u="none" strike="noStrike" kern="1200" baseline="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lIns="0" tIns="0" rIns="0" bIns="0"/>
          <a:lstStyle/>
          <a:p>
            <a:pPr marL="0" marR="0" indent="0" algn="ctr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3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r>
              <a: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Control Traffic Overhead</a:t>
            </a:r>
          </a:p>
        </c:rich>
      </c:tx>
      <c:overlay val="0"/>
      <c:spPr>
        <a:noFill/>
        <a:ln>
          <a:noFill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'30n_Control_Traffic'!$B$1</c:f>
              <c:strCache>
                <c:ptCount val="1"/>
                <c:pt idx="0">
                  <c:v>Of0</c:v>
                </c:pt>
              </c:strCache>
            </c:strRef>
          </c:tx>
          <c:spPr>
            <a:ln w="28803" cap="rnd">
              <a:solidFill>
                <a:srgbClr val="004586"/>
              </a:solidFill>
              <a:custDash>
                <a:ds d="100000" sp="100000"/>
              </a:custDash>
              <a:round/>
            </a:ln>
          </c:spPr>
          <c:marker>
            <c:symbol val="square"/>
            <c:size val="7"/>
          </c:marker>
          <c:cat>
            <c:strRef>
              <c:f>'30n_Control_Traffic'!$A$2:$A$4</c:f>
              <c:strCache>
                <c:ptCount val="3"/>
                <c:pt idx="0">
                  <c:v>50s</c:v>
                </c:pt>
                <c:pt idx="1">
                  <c:v>30s</c:v>
                </c:pt>
                <c:pt idx="2">
                  <c:v>10s</c:v>
                </c:pt>
              </c:strCache>
            </c:strRef>
          </c:cat>
          <c:val>
            <c:numRef>
              <c:f>'30n_Control_Traffic'!$B$2:$B$4</c:f>
              <c:numCache>
                <c:formatCode>General</c:formatCode>
                <c:ptCount val="3"/>
                <c:pt idx="0">
                  <c:v>82.16106014271152</c:v>
                </c:pt>
                <c:pt idx="1">
                  <c:v>83.798627002288328</c:v>
                </c:pt>
                <c:pt idx="2">
                  <c:v>78.560587906382295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AAC-47ED-8DCB-DC92120178F7}"/>
            </c:ext>
          </c:extLst>
        </c:ser>
        <c:ser>
          <c:idx val="1"/>
          <c:order val="1"/>
          <c:tx>
            <c:strRef>
              <c:f>'30n_Control_Traffic'!$C$1</c:f>
              <c:strCache>
                <c:ptCount val="1"/>
                <c:pt idx="0">
                  <c:v>MRHOF</c:v>
                </c:pt>
              </c:strCache>
            </c:strRef>
          </c:tx>
          <c:spPr>
            <a:ln w="28803" cap="rnd">
              <a:solidFill>
                <a:srgbClr val="C00000"/>
              </a:solidFill>
              <a:prstDash val="solid"/>
              <a:round/>
            </a:ln>
          </c:spPr>
          <c:marker>
            <c:symbol val="diamond"/>
            <c:size val="7"/>
          </c:marker>
          <c:cat>
            <c:strRef>
              <c:f>'30n_Control_Traffic'!$A$2:$A$4</c:f>
              <c:strCache>
                <c:ptCount val="3"/>
                <c:pt idx="0">
                  <c:v>50s</c:v>
                </c:pt>
                <c:pt idx="1">
                  <c:v>30s</c:v>
                </c:pt>
                <c:pt idx="2">
                  <c:v>10s</c:v>
                </c:pt>
              </c:strCache>
            </c:strRef>
          </c:cat>
          <c:val>
            <c:numRef>
              <c:f>'30n_Control_Traffic'!$C$2:$C$4</c:f>
              <c:numCache>
                <c:formatCode>General</c:formatCode>
                <c:ptCount val="3"/>
                <c:pt idx="0">
                  <c:v>64.800536372779078</c:v>
                </c:pt>
                <c:pt idx="1">
                  <c:v>54.334365325077393</c:v>
                </c:pt>
                <c:pt idx="2">
                  <c:v>49.770835282012911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AAC-47ED-8DCB-DC92120178F7}"/>
            </c:ext>
          </c:extLst>
        </c:ser>
        <c:ser>
          <c:idx val="2"/>
          <c:order val="2"/>
          <c:tx>
            <c:strRef>
              <c:f>'30n_Control_Traffic'!$D$1</c:f>
              <c:strCache>
                <c:ptCount val="1"/>
                <c:pt idx="0">
                  <c:v>OF SEEMI</c:v>
                </c:pt>
              </c:strCache>
            </c:strRef>
          </c:tx>
          <c:spPr>
            <a:ln w="28803" cap="rnd">
              <a:solidFill>
                <a:srgbClr val="262626"/>
              </a:solidFill>
              <a:custDash>
                <a:ds d="300003" sp="300003"/>
              </a:custDash>
              <a:round/>
            </a:ln>
          </c:spPr>
          <c:cat>
            <c:strRef>
              <c:f>'30n_Control_Traffic'!$A$2:$A$4</c:f>
              <c:strCache>
                <c:ptCount val="3"/>
                <c:pt idx="0">
                  <c:v>50s</c:v>
                </c:pt>
                <c:pt idx="1">
                  <c:v>30s</c:v>
                </c:pt>
                <c:pt idx="2">
                  <c:v>10s</c:v>
                </c:pt>
              </c:strCache>
            </c:strRef>
          </c:cat>
          <c:val>
            <c:numRef>
              <c:f>'30n_Control_Traffic'!$D$2:$D$4</c:f>
              <c:numCache>
                <c:formatCode>General</c:formatCode>
                <c:ptCount val="3"/>
                <c:pt idx="0">
                  <c:v>67.427701674277017</c:v>
                </c:pt>
                <c:pt idx="1">
                  <c:v>59.945689069925322</c:v>
                </c:pt>
                <c:pt idx="2">
                  <c:v>47.732139380961655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AAC-47ED-8DCB-DC92120178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46227064"/>
        <c:axId val="346225752"/>
      </c:lineChart>
      <c:valAx>
        <c:axId val="346225752"/>
        <c:scaling>
          <c:orientation val="minMax"/>
          <c:max val="100"/>
          <c:min val="0"/>
        </c:scaling>
        <c:delete val="0"/>
        <c:axPos val="l"/>
        <c:majorGridlines>
          <c:spPr>
            <a:ln w="6345" cap="flat">
              <a:solidFill>
                <a:srgbClr val="B3B3B3"/>
              </a:solidFill>
              <a:prstDash val="solid"/>
              <a:round/>
            </a:ln>
          </c:spPr>
        </c:majorGridlines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rPr>
                  <a:t>Overhead [%]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346227064"/>
        <c:crossesAt val="1"/>
        <c:crossBetween val="between"/>
        <c:majorUnit val="20"/>
        <c:minorUnit val="4"/>
      </c:valAx>
      <c:catAx>
        <c:axId val="346227064"/>
        <c:scaling>
          <c:orientation val="minMax"/>
        </c:scaling>
        <c:delete val="0"/>
        <c:axPos val="b"/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 dirty="0">
                    <a:solidFill>
                      <a:srgbClr val="000000"/>
                    </a:solidFill>
                    <a:uFillTx/>
                    <a:latin typeface="Calibri"/>
                  </a:rPr>
                  <a:t>Traffic Intensity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346225752"/>
        <c:crossesAt val="0"/>
        <c:auto val="1"/>
        <c:lblAlgn val="ctr"/>
        <c:lblOffset val="100"/>
        <c:noMultiLvlLbl val="0"/>
      </c:catAx>
      <c:spPr>
        <a:noFill/>
        <a:ln w="9528">
          <a:solidFill>
            <a:srgbClr val="B3B3B3"/>
          </a:solidFill>
          <a:prstDash val="solid"/>
        </a:ln>
      </c:spPr>
    </c:plotArea>
    <c:legend>
      <c:legendPos val="b"/>
      <c:overlay val="0"/>
      <c:spPr>
        <a:noFill/>
        <a:ln>
          <a:noFill/>
        </a:ln>
      </c:spPr>
      <c:txPr>
        <a:bodyPr lIns="0" tIns="0" rIns="0" bIns="0"/>
        <a:lstStyle/>
        <a:p>
          <a:pPr marL="0" marR="0" indent="0" defTabSz="914400" fontAlgn="auto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tabLst/>
            <a:defRPr sz="1000" b="0" i="0" u="none" strike="noStrike" kern="1200" baseline="0">
              <a:solidFill>
                <a:srgbClr val="000000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 lIns="0" tIns="0" rIns="0" bIns="0"/>
    <a:lstStyle/>
    <a:p>
      <a:pPr marL="0" marR="0" indent="0" defTabSz="914400" fontAlgn="auto" hangingPunct="1">
        <a:lnSpc>
          <a:spcPct val="100000"/>
        </a:lnSpc>
        <a:spcBef>
          <a:spcPts val="0"/>
        </a:spcBef>
        <a:spcAft>
          <a:spcPts val="0"/>
        </a:spcAft>
        <a:tabLst/>
        <a:defRPr lang="en-US" sz="1000" b="0" i="0" u="none" strike="noStrike" kern="1200" baseline="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lIns="0" tIns="0" rIns="0" bIns="0"/>
          <a:lstStyle/>
          <a:p>
            <a:pPr marL="0" marR="0" indent="0" algn="ctr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lang="en-US" sz="13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r>
              <a: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Throughput</a:t>
            </a:r>
          </a:p>
        </c:rich>
      </c:tx>
      <c:overlay val="0"/>
      <c:spPr>
        <a:noFill/>
        <a:ln>
          <a:noFill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'10n_'!$H$2</c:f>
              <c:strCache>
                <c:ptCount val="1"/>
                <c:pt idx="0">
                  <c:v>Of0</c:v>
                </c:pt>
              </c:strCache>
            </c:strRef>
          </c:tx>
          <c:spPr>
            <a:ln w="28803" cap="rnd">
              <a:solidFill>
                <a:srgbClr val="004586"/>
              </a:solidFill>
              <a:custDash>
                <a:ds d="100000" sp="100000"/>
              </a:custDash>
              <a:round/>
            </a:ln>
          </c:spPr>
          <c:marker>
            <c:symbol val="square"/>
            <c:size val="7"/>
          </c:marker>
          <c:cat>
            <c:strRef>
              <c:f>'10n_'!$A$3:$A$5</c:f>
              <c:strCache>
                <c:ptCount val="3"/>
                <c:pt idx="0">
                  <c:v>50s</c:v>
                </c:pt>
                <c:pt idx="1">
                  <c:v>30s</c:v>
                </c:pt>
                <c:pt idx="2">
                  <c:v>10s</c:v>
                </c:pt>
              </c:strCache>
            </c:strRef>
          </c:cat>
          <c:val>
            <c:numRef>
              <c:f>'10n_'!$H$3:$H$5</c:f>
              <c:numCache>
                <c:formatCode>General</c:formatCode>
                <c:ptCount val="3"/>
                <c:pt idx="0">
                  <c:v>91.784702549575073</c:v>
                </c:pt>
                <c:pt idx="1">
                  <c:v>95.805369127516784</c:v>
                </c:pt>
                <c:pt idx="2">
                  <c:v>96.45036051026068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0EF-4B11-B9F7-5D9E54CCD08C}"/>
            </c:ext>
          </c:extLst>
        </c:ser>
        <c:ser>
          <c:idx val="1"/>
          <c:order val="1"/>
          <c:tx>
            <c:strRef>
              <c:f>'10n_'!$I$2</c:f>
              <c:strCache>
                <c:ptCount val="1"/>
                <c:pt idx="0">
                  <c:v>MRHOF</c:v>
                </c:pt>
              </c:strCache>
            </c:strRef>
          </c:tx>
          <c:spPr>
            <a:ln w="28803" cap="rnd">
              <a:solidFill>
                <a:srgbClr val="C00000"/>
              </a:solidFill>
              <a:prstDash val="solid"/>
              <a:round/>
            </a:ln>
          </c:spPr>
          <c:marker>
            <c:symbol val="diamond"/>
            <c:size val="7"/>
          </c:marker>
          <c:cat>
            <c:strRef>
              <c:f>'10n_'!$A$3:$A$5</c:f>
              <c:strCache>
                <c:ptCount val="3"/>
                <c:pt idx="0">
                  <c:v>50s</c:v>
                </c:pt>
                <c:pt idx="1">
                  <c:v>30s</c:v>
                </c:pt>
                <c:pt idx="2">
                  <c:v>10s</c:v>
                </c:pt>
              </c:strCache>
            </c:strRef>
          </c:cat>
          <c:val>
            <c:numRef>
              <c:f>'10n_'!$I$3:$I$5</c:f>
              <c:numCache>
                <c:formatCode>General</c:formatCode>
                <c:ptCount val="3"/>
                <c:pt idx="0">
                  <c:v>97.457627118644069</c:v>
                </c:pt>
                <c:pt idx="1">
                  <c:v>95.345104333868377</c:v>
                </c:pt>
                <c:pt idx="2">
                  <c:v>97.607122982749033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0EF-4B11-B9F7-5D9E54CCD08C}"/>
            </c:ext>
          </c:extLst>
        </c:ser>
        <c:ser>
          <c:idx val="2"/>
          <c:order val="2"/>
          <c:tx>
            <c:strRef>
              <c:f>'10n_'!$J$2</c:f>
              <c:strCache>
                <c:ptCount val="1"/>
                <c:pt idx="0">
                  <c:v>OF SEEMI</c:v>
                </c:pt>
              </c:strCache>
            </c:strRef>
          </c:tx>
          <c:spPr>
            <a:ln w="28803" cap="rnd">
              <a:solidFill>
                <a:srgbClr val="262626"/>
              </a:solidFill>
              <a:custDash>
                <a:ds d="300003" sp="300003"/>
              </a:custDash>
              <a:round/>
            </a:ln>
          </c:spPr>
          <c:cat>
            <c:strRef>
              <c:f>'10n_'!$A$3:$A$5</c:f>
              <c:strCache>
                <c:ptCount val="3"/>
                <c:pt idx="0">
                  <c:v>50s</c:v>
                </c:pt>
                <c:pt idx="1">
                  <c:v>30s</c:v>
                </c:pt>
                <c:pt idx="2">
                  <c:v>10s</c:v>
                </c:pt>
              </c:strCache>
            </c:strRef>
          </c:cat>
          <c:val>
            <c:numRef>
              <c:f>'10n_'!$J$3:$J$5</c:f>
              <c:numCache>
                <c:formatCode>General</c:formatCode>
                <c:ptCount val="3"/>
                <c:pt idx="0">
                  <c:v>100</c:v>
                </c:pt>
                <c:pt idx="1">
                  <c:v>99.671052631578945</c:v>
                </c:pt>
                <c:pt idx="2">
                  <c:v>98.605150214592271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0EF-4B11-B9F7-5D9E54CCD0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46231656"/>
        <c:axId val="346227392"/>
      </c:lineChart>
      <c:valAx>
        <c:axId val="346227392"/>
        <c:scaling>
          <c:orientation val="minMax"/>
          <c:max val="100"/>
          <c:min val="80"/>
        </c:scaling>
        <c:delete val="0"/>
        <c:axPos val="l"/>
        <c:majorGridlines>
          <c:spPr>
            <a:ln w="6345" cap="flat">
              <a:solidFill>
                <a:srgbClr val="B3B3B3"/>
              </a:solidFill>
              <a:prstDash val="solid"/>
              <a:round/>
            </a:ln>
          </c:spPr>
        </c:majorGridlines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lang="en-US"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rPr>
                  <a:t>Throughput [%]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lang="en-US"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346231656"/>
        <c:crossesAt val="1"/>
        <c:crossBetween val="between"/>
        <c:majorUnit val="5"/>
        <c:minorUnit val="2.5"/>
      </c:valAx>
      <c:catAx>
        <c:axId val="346231656"/>
        <c:scaling>
          <c:orientation val="minMax"/>
        </c:scaling>
        <c:delete val="0"/>
        <c:axPos val="b"/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lang="en-US"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rPr>
                  <a:t>Traffic Intensity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lang="en-US"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346227392"/>
        <c:crossesAt val="0"/>
        <c:auto val="1"/>
        <c:lblAlgn val="ctr"/>
        <c:lblOffset val="100"/>
        <c:noMultiLvlLbl val="0"/>
      </c:catAx>
      <c:spPr>
        <a:noFill/>
        <a:ln w="9528">
          <a:solidFill>
            <a:srgbClr val="B3B3B3"/>
          </a:solidFill>
          <a:prstDash val="solid"/>
        </a:ln>
      </c:spPr>
    </c:plotArea>
    <c:legend>
      <c:legendPos val="b"/>
      <c:overlay val="0"/>
      <c:spPr>
        <a:noFill/>
        <a:ln>
          <a:noFill/>
        </a:ln>
      </c:spPr>
      <c:txPr>
        <a:bodyPr lIns="0" tIns="0" rIns="0" bIns="0"/>
        <a:lstStyle/>
        <a:p>
          <a:pPr marL="0" marR="0" indent="0" defTabSz="914400" fontAlgn="auto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tabLst/>
            <a:defRPr lang="en-US" sz="1000" b="0" i="0" u="none" strike="noStrike" kern="1200" baseline="0">
              <a:solidFill>
                <a:srgbClr val="000000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 lIns="0" tIns="0" rIns="0" bIns="0"/>
    <a:lstStyle/>
    <a:p>
      <a:pPr marL="0" marR="0" indent="0" defTabSz="914400" fontAlgn="auto" hangingPunct="1">
        <a:lnSpc>
          <a:spcPct val="100000"/>
        </a:lnSpc>
        <a:spcBef>
          <a:spcPts val="0"/>
        </a:spcBef>
        <a:spcAft>
          <a:spcPts val="0"/>
        </a:spcAft>
        <a:tabLst/>
        <a:defRPr lang="en-US" sz="1000" b="0" i="0" u="none" strike="noStrike" kern="1200" baseline="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lIns="0" tIns="0" rIns="0" bIns="0"/>
          <a:lstStyle/>
          <a:p>
            <a:pPr marL="0" marR="0" indent="0" algn="ctr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3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r>
              <a: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Throughput</a:t>
            </a:r>
          </a:p>
        </c:rich>
      </c:tx>
      <c:overlay val="0"/>
      <c:spPr>
        <a:noFill/>
        <a:ln>
          <a:noFill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'20n'!$H$2</c:f>
              <c:strCache>
                <c:ptCount val="1"/>
                <c:pt idx="0">
                  <c:v>Of0</c:v>
                </c:pt>
              </c:strCache>
            </c:strRef>
          </c:tx>
          <c:spPr>
            <a:ln w="28803" cap="rnd">
              <a:solidFill>
                <a:srgbClr val="004586"/>
              </a:solidFill>
              <a:custDash>
                <a:ds d="100000" sp="100000"/>
              </a:custDash>
              <a:round/>
            </a:ln>
          </c:spPr>
          <c:marker>
            <c:symbol val="square"/>
            <c:size val="7"/>
          </c:marker>
          <c:cat>
            <c:strRef>
              <c:f>'20n'!$A$3:$A$5</c:f>
              <c:strCache>
                <c:ptCount val="3"/>
                <c:pt idx="0">
                  <c:v>50s</c:v>
                </c:pt>
                <c:pt idx="1">
                  <c:v>30s</c:v>
                </c:pt>
                <c:pt idx="2">
                  <c:v>10s</c:v>
                </c:pt>
              </c:strCache>
            </c:strRef>
          </c:cat>
          <c:val>
            <c:numRef>
              <c:f>'20n'!$H$3:$H$5</c:f>
              <c:numCache>
                <c:formatCode>General</c:formatCode>
                <c:ptCount val="3"/>
                <c:pt idx="0">
                  <c:v>97.707736389684811</c:v>
                </c:pt>
                <c:pt idx="1">
                  <c:v>96.334185848252346</c:v>
                </c:pt>
                <c:pt idx="2">
                  <c:v>89.455973079080195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096-4225-846D-61BA89703FF5}"/>
            </c:ext>
          </c:extLst>
        </c:ser>
        <c:ser>
          <c:idx val="1"/>
          <c:order val="1"/>
          <c:tx>
            <c:strRef>
              <c:f>'20n'!$I$2</c:f>
              <c:strCache>
                <c:ptCount val="1"/>
                <c:pt idx="0">
                  <c:v>MRHOF</c:v>
                </c:pt>
              </c:strCache>
            </c:strRef>
          </c:tx>
          <c:spPr>
            <a:ln w="28803" cap="rnd">
              <a:solidFill>
                <a:srgbClr val="C00000"/>
              </a:solidFill>
              <a:prstDash val="solid"/>
              <a:round/>
            </a:ln>
          </c:spPr>
          <c:marker>
            <c:symbol val="diamond"/>
            <c:size val="7"/>
          </c:marker>
          <c:cat>
            <c:strRef>
              <c:f>'20n'!$A$3:$A$5</c:f>
              <c:strCache>
                <c:ptCount val="3"/>
                <c:pt idx="0">
                  <c:v>50s</c:v>
                </c:pt>
                <c:pt idx="1">
                  <c:v>30s</c:v>
                </c:pt>
                <c:pt idx="2">
                  <c:v>10s</c:v>
                </c:pt>
              </c:strCache>
            </c:strRef>
          </c:cat>
          <c:val>
            <c:numRef>
              <c:f>'20n'!$I$3:$I$5</c:f>
              <c:numCache>
                <c:formatCode>General</c:formatCode>
                <c:ptCount val="3"/>
                <c:pt idx="0">
                  <c:v>98.005698005698008</c:v>
                </c:pt>
                <c:pt idx="1">
                  <c:v>98.653198653198643</c:v>
                </c:pt>
                <c:pt idx="2">
                  <c:v>97.34785036292574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096-4225-846D-61BA89703FF5}"/>
            </c:ext>
          </c:extLst>
        </c:ser>
        <c:ser>
          <c:idx val="2"/>
          <c:order val="2"/>
          <c:tx>
            <c:strRef>
              <c:f>'20n'!$J$2</c:f>
              <c:strCache>
                <c:ptCount val="1"/>
                <c:pt idx="0">
                  <c:v>OF SEEMI</c:v>
                </c:pt>
              </c:strCache>
            </c:strRef>
          </c:tx>
          <c:spPr>
            <a:ln w="28803" cap="rnd">
              <a:solidFill>
                <a:srgbClr val="262626"/>
              </a:solidFill>
              <a:custDash>
                <a:ds d="300003" sp="300003"/>
              </a:custDash>
              <a:round/>
            </a:ln>
          </c:spPr>
          <c:cat>
            <c:strRef>
              <c:f>'20n'!$A$3:$A$5</c:f>
              <c:strCache>
                <c:ptCount val="3"/>
                <c:pt idx="0">
                  <c:v>50s</c:v>
                </c:pt>
                <c:pt idx="1">
                  <c:v>30s</c:v>
                </c:pt>
                <c:pt idx="2">
                  <c:v>10s</c:v>
                </c:pt>
              </c:strCache>
            </c:strRef>
          </c:cat>
          <c:val>
            <c:numRef>
              <c:f>'20n'!$J$3:$J$5</c:f>
              <c:numCache>
                <c:formatCode>General</c:formatCode>
                <c:ptCount val="3"/>
                <c:pt idx="0">
                  <c:v>98.290598290598282</c:v>
                </c:pt>
                <c:pt idx="1">
                  <c:v>98.564189189189193</c:v>
                </c:pt>
                <c:pt idx="2">
                  <c:v>96.125511596180075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096-4225-846D-61BA89703F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46225424"/>
        <c:axId val="346224768"/>
      </c:lineChart>
      <c:valAx>
        <c:axId val="346224768"/>
        <c:scaling>
          <c:orientation val="minMax"/>
          <c:min val="80"/>
        </c:scaling>
        <c:delete val="0"/>
        <c:axPos val="l"/>
        <c:majorGridlines>
          <c:spPr>
            <a:ln w="6345" cap="flat">
              <a:solidFill>
                <a:srgbClr val="B3B3B3"/>
              </a:solidFill>
              <a:prstDash val="solid"/>
              <a:round/>
            </a:ln>
          </c:spPr>
        </c:majorGridlines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rPr>
                  <a:t>Throughput [ % ]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346225424"/>
        <c:crossesAt val="1"/>
        <c:crossBetween val="between"/>
        <c:majorUnit val="5"/>
      </c:valAx>
      <c:catAx>
        <c:axId val="346225424"/>
        <c:scaling>
          <c:orientation val="minMax"/>
        </c:scaling>
        <c:delete val="0"/>
        <c:axPos val="b"/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rPr>
                  <a:t>Traffic Intensity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346224768"/>
        <c:crossesAt val="0"/>
        <c:auto val="1"/>
        <c:lblAlgn val="ctr"/>
        <c:lblOffset val="100"/>
        <c:noMultiLvlLbl val="0"/>
      </c:catAx>
      <c:spPr>
        <a:noFill/>
        <a:ln w="9528">
          <a:solidFill>
            <a:srgbClr val="B3B3B3"/>
          </a:solidFill>
          <a:prstDash val="solid"/>
        </a:ln>
      </c:spPr>
    </c:plotArea>
    <c:legend>
      <c:legendPos val="b"/>
      <c:overlay val="0"/>
      <c:spPr>
        <a:noFill/>
        <a:ln>
          <a:noFill/>
        </a:ln>
      </c:spPr>
      <c:txPr>
        <a:bodyPr lIns="0" tIns="0" rIns="0" bIns="0"/>
        <a:lstStyle/>
        <a:p>
          <a:pPr marL="0" marR="0" indent="0" defTabSz="914400" fontAlgn="auto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tabLst/>
            <a:defRPr sz="1000" b="0" i="0" u="none" strike="noStrike" kern="1200" baseline="0">
              <a:solidFill>
                <a:srgbClr val="000000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 lIns="0" tIns="0" rIns="0" bIns="0"/>
    <a:lstStyle/>
    <a:p>
      <a:pPr marL="0" marR="0" indent="0" defTabSz="914400" fontAlgn="auto" hangingPunct="1">
        <a:lnSpc>
          <a:spcPct val="100000"/>
        </a:lnSpc>
        <a:spcBef>
          <a:spcPts val="0"/>
        </a:spcBef>
        <a:spcAft>
          <a:spcPts val="0"/>
        </a:spcAft>
        <a:tabLst/>
        <a:defRPr lang="en-US" sz="1000" b="0" i="0" u="none" strike="noStrike" kern="1200" baseline="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lIns="0" tIns="0" rIns="0" bIns="0"/>
          <a:lstStyle/>
          <a:p>
            <a:pPr marL="0" marR="0" indent="0" algn="ctr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3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r>
              <a: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Throughput</a:t>
            </a:r>
          </a:p>
        </c:rich>
      </c:tx>
      <c:overlay val="0"/>
      <c:spPr>
        <a:noFill/>
        <a:ln>
          <a:noFill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'30n'!$H$2</c:f>
              <c:strCache>
                <c:ptCount val="1"/>
                <c:pt idx="0">
                  <c:v>Of0</c:v>
                </c:pt>
              </c:strCache>
            </c:strRef>
          </c:tx>
          <c:spPr>
            <a:ln w="28803" cap="rnd">
              <a:solidFill>
                <a:srgbClr val="004586"/>
              </a:solidFill>
              <a:custDash>
                <a:ds d="100000" sp="100000"/>
              </a:custDash>
              <a:round/>
            </a:ln>
          </c:spPr>
          <c:marker>
            <c:symbol val="square"/>
            <c:size val="7"/>
          </c:marker>
          <c:cat>
            <c:strRef>
              <c:f>'30n'!$A$3:$A$5</c:f>
              <c:strCache>
                <c:ptCount val="3"/>
                <c:pt idx="0">
                  <c:v>50s</c:v>
                </c:pt>
                <c:pt idx="1">
                  <c:v>30s</c:v>
                </c:pt>
                <c:pt idx="2">
                  <c:v>10s</c:v>
                </c:pt>
              </c:strCache>
            </c:strRef>
          </c:cat>
          <c:val>
            <c:numRef>
              <c:f>'30n'!$H$3:$H$5</c:f>
              <c:numCache>
                <c:formatCode>General</c:formatCode>
                <c:ptCount val="3"/>
                <c:pt idx="0">
                  <c:v>97.428571428571431</c:v>
                </c:pt>
                <c:pt idx="1">
                  <c:v>94.25352112676056</c:v>
                </c:pt>
                <c:pt idx="2">
                  <c:v>82.250922509225092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7CE-4B57-B900-ECFC14AF01B6}"/>
            </c:ext>
          </c:extLst>
        </c:ser>
        <c:ser>
          <c:idx val="1"/>
          <c:order val="1"/>
          <c:tx>
            <c:strRef>
              <c:f>'30n'!$I$2</c:f>
              <c:strCache>
                <c:ptCount val="1"/>
                <c:pt idx="0">
                  <c:v>MRHOF</c:v>
                </c:pt>
              </c:strCache>
            </c:strRef>
          </c:tx>
          <c:spPr>
            <a:ln w="28803" cap="rnd">
              <a:solidFill>
                <a:srgbClr val="C00000"/>
              </a:solidFill>
              <a:prstDash val="solid"/>
              <a:round/>
            </a:ln>
          </c:spPr>
          <c:marker>
            <c:symbol val="diamond"/>
            <c:size val="7"/>
          </c:marker>
          <c:cat>
            <c:strRef>
              <c:f>'30n'!$A$3:$A$5</c:f>
              <c:strCache>
                <c:ptCount val="3"/>
                <c:pt idx="0">
                  <c:v>50s</c:v>
                </c:pt>
                <c:pt idx="1">
                  <c:v>30s</c:v>
                </c:pt>
                <c:pt idx="2">
                  <c:v>10s</c:v>
                </c:pt>
              </c:strCache>
            </c:strRef>
          </c:cat>
          <c:val>
            <c:numRef>
              <c:f>'30n'!$I$3:$I$5</c:f>
              <c:numCache>
                <c:formatCode>General</c:formatCode>
                <c:ptCount val="3"/>
                <c:pt idx="0">
                  <c:v>97.912713472485763</c:v>
                </c:pt>
                <c:pt idx="1">
                  <c:v>97.86276715410574</c:v>
                </c:pt>
                <c:pt idx="2">
                  <c:v>92.909124836723265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7CE-4B57-B900-ECFC14AF01B6}"/>
            </c:ext>
          </c:extLst>
        </c:ser>
        <c:ser>
          <c:idx val="2"/>
          <c:order val="2"/>
          <c:tx>
            <c:strRef>
              <c:f>'30n'!$J$2</c:f>
              <c:strCache>
                <c:ptCount val="1"/>
                <c:pt idx="0">
                  <c:v>OF SEEMI</c:v>
                </c:pt>
              </c:strCache>
            </c:strRef>
          </c:tx>
          <c:spPr>
            <a:ln w="28803" cap="rnd">
              <a:solidFill>
                <a:srgbClr val="262626"/>
              </a:solidFill>
              <a:custDash>
                <a:ds d="300003" sp="300003"/>
              </a:custDash>
              <a:round/>
            </a:ln>
          </c:spPr>
          <c:cat>
            <c:strRef>
              <c:f>'30n'!$A$3:$A$5</c:f>
              <c:strCache>
                <c:ptCount val="3"/>
                <c:pt idx="0">
                  <c:v>50s</c:v>
                </c:pt>
                <c:pt idx="1">
                  <c:v>30s</c:v>
                </c:pt>
                <c:pt idx="2">
                  <c:v>10s</c:v>
                </c:pt>
              </c:strCache>
            </c:strRef>
          </c:cat>
          <c:val>
            <c:numRef>
              <c:f>'30n'!$J$3:$J$5</c:f>
              <c:numCache>
                <c:formatCode>General</c:formatCode>
                <c:ptCount val="3"/>
                <c:pt idx="0">
                  <c:v>97.556390977443613</c:v>
                </c:pt>
                <c:pt idx="1">
                  <c:v>96.164692611393122</c:v>
                </c:pt>
                <c:pt idx="2">
                  <c:v>93.656994047619051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7CE-4B57-B900-ECFC14AF01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46909816"/>
        <c:axId val="346909488"/>
      </c:lineChart>
      <c:valAx>
        <c:axId val="346909488"/>
        <c:scaling>
          <c:orientation val="minMax"/>
          <c:min val="80"/>
        </c:scaling>
        <c:delete val="0"/>
        <c:axPos val="l"/>
        <c:majorGridlines>
          <c:spPr>
            <a:ln w="6345" cap="flat">
              <a:solidFill>
                <a:srgbClr val="B3B3B3"/>
              </a:solidFill>
              <a:prstDash val="solid"/>
              <a:round/>
            </a:ln>
          </c:spPr>
        </c:majorGridlines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rPr>
                  <a:t>Throughpuut [%]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346909816"/>
        <c:crossesAt val="1"/>
        <c:crossBetween val="between"/>
        <c:majorUnit val="5"/>
      </c:valAx>
      <c:catAx>
        <c:axId val="346909816"/>
        <c:scaling>
          <c:orientation val="minMax"/>
        </c:scaling>
        <c:delete val="0"/>
        <c:axPos val="b"/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rPr>
                  <a:t>Traffic Intensity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346909488"/>
        <c:crossesAt val="0"/>
        <c:auto val="1"/>
        <c:lblAlgn val="ctr"/>
        <c:lblOffset val="100"/>
        <c:noMultiLvlLbl val="0"/>
      </c:catAx>
      <c:spPr>
        <a:noFill/>
        <a:ln w="9528">
          <a:solidFill>
            <a:srgbClr val="B3B3B3"/>
          </a:solidFill>
          <a:prstDash val="solid"/>
        </a:ln>
      </c:spPr>
    </c:plotArea>
    <c:legend>
      <c:legendPos val="b"/>
      <c:overlay val="0"/>
      <c:spPr>
        <a:noFill/>
        <a:ln>
          <a:noFill/>
        </a:ln>
      </c:spPr>
      <c:txPr>
        <a:bodyPr lIns="0" tIns="0" rIns="0" bIns="0"/>
        <a:lstStyle/>
        <a:p>
          <a:pPr marL="0" marR="0" indent="0" defTabSz="914400" fontAlgn="auto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tabLst/>
            <a:defRPr sz="1000" b="0" i="0" u="none" strike="noStrike" kern="1200" baseline="0">
              <a:solidFill>
                <a:srgbClr val="000000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 lIns="0" tIns="0" rIns="0" bIns="0"/>
    <a:lstStyle/>
    <a:p>
      <a:pPr marL="0" marR="0" indent="0" defTabSz="914400" fontAlgn="auto" hangingPunct="1">
        <a:lnSpc>
          <a:spcPct val="100000"/>
        </a:lnSpc>
        <a:spcBef>
          <a:spcPts val="0"/>
        </a:spcBef>
        <a:spcAft>
          <a:spcPts val="0"/>
        </a:spcAft>
        <a:tabLst/>
        <a:defRPr lang="en-US" sz="1000" b="0" i="0" u="none" strike="noStrike" kern="1200" baseline="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lIns="0" tIns="0" rIns="0" bIns="0"/>
          <a:lstStyle/>
          <a:p>
            <a:pPr marL="0" marR="0" indent="0" algn="ctr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3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r>
              <a: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Control Traffic Overhead</a:t>
            </a:r>
          </a:p>
        </c:rich>
      </c:tx>
      <c:overlay val="0"/>
      <c:spPr>
        <a:noFill/>
        <a:ln>
          <a:noFill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'40n_Contol_Traffic'!$B$1</c:f>
              <c:strCache>
                <c:ptCount val="1"/>
                <c:pt idx="0">
                  <c:v>Of0</c:v>
                </c:pt>
              </c:strCache>
            </c:strRef>
          </c:tx>
          <c:spPr>
            <a:ln w="28803" cap="rnd">
              <a:solidFill>
                <a:srgbClr val="002060"/>
              </a:solidFill>
              <a:custDash>
                <a:ds d="100000" sp="100000"/>
              </a:custDash>
              <a:round/>
            </a:ln>
          </c:spPr>
          <c:marker>
            <c:symbol val="square"/>
            <c:size val="7"/>
          </c:marker>
          <c:cat>
            <c:strRef>
              <c:f>'40n_Contol_Traffic'!$A$2:$A$4</c:f>
              <c:strCache>
                <c:ptCount val="3"/>
                <c:pt idx="0">
                  <c:v>15m</c:v>
                </c:pt>
                <c:pt idx="1">
                  <c:v>10m</c:v>
                </c:pt>
                <c:pt idx="2">
                  <c:v>05m</c:v>
                </c:pt>
              </c:strCache>
            </c:strRef>
          </c:cat>
          <c:val>
            <c:numRef>
              <c:f>'40n_Contol_Traffic'!$B$2:$B$4</c:f>
              <c:numCache>
                <c:formatCode>General</c:formatCode>
                <c:ptCount val="3"/>
                <c:pt idx="0">
                  <c:v>98.740950582310361</c:v>
                </c:pt>
                <c:pt idx="1">
                  <c:v>97.402597402597408</c:v>
                </c:pt>
                <c:pt idx="2">
                  <c:v>92.398327632079059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9C3-4BD0-BE36-6A97DB35007B}"/>
            </c:ext>
          </c:extLst>
        </c:ser>
        <c:ser>
          <c:idx val="1"/>
          <c:order val="1"/>
          <c:tx>
            <c:strRef>
              <c:f>'40n_Contol_Traffic'!$C$1</c:f>
              <c:strCache>
                <c:ptCount val="1"/>
                <c:pt idx="0">
                  <c:v>MRHOF</c:v>
                </c:pt>
              </c:strCache>
            </c:strRef>
          </c:tx>
          <c:spPr>
            <a:ln w="28803" cap="rnd">
              <a:solidFill>
                <a:srgbClr val="C00000"/>
              </a:solidFill>
              <a:prstDash val="solid"/>
              <a:round/>
            </a:ln>
          </c:spPr>
          <c:marker>
            <c:symbol val="diamond"/>
            <c:size val="7"/>
          </c:marker>
          <c:cat>
            <c:strRef>
              <c:f>'40n_Contol_Traffic'!$A$2:$A$4</c:f>
              <c:strCache>
                <c:ptCount val="3"/>
                <c:pt idx="0">
                  <c:v>15m</c:v>
                </c:pt>
                <c:pt idx="1">
                  <c:v>10m</c:v>
                </c:pt>
                <c:pt idx="2">
                  <c:v>05m</c:v>
                </c:pt>
              </c:strCache>
            </c:strRef>
          </c:cat>
          <c:val>
            <c:numRef>
              <c:f>'40n_Contol_Traffic'!$C$2:$C$4</c:f>
              <c:numCache>
                <c:formatCode>General</c:formatCode>
                <c:ptCount val="3"/>
                <c:pt idx="0">
                  <c:v>97.97160243407707</c:v>
                </c:pt>
                <c:pt idx="1">
                  <c:v>96.072655866470299</c:v>
                </c:pt>
                <c:pt idx="2">
                  <c:v>90.480723465016652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C3-4BD0-BE36-6A97DB35007B}"/>
            </c:ext>
          </c:extLst>
        </c:ser>
        <c:ser>
          <c:idx val="2"/>
          <c:order val="2"/>
          <c:tx>
            <c:strRef>
              <c:f>'40n_Contol_Traffic'!$D$1</c:f>
              <c:strCache>
                <c:ptCount val="1"/>
                <c:pt idx="0">
                  <c:v>OF SEEMI</c:v>
                </c:pt>
              </c:strCache>
            </c:strRef>
          </c:tx>
          <c:spPr>
            <a:ln w="28803" cap="rnd">
              <a:solidFill>
                <a:srgbClr val="262626"/>
              </a:solidFill>
              <a:custDash>
                <a:ds d="300003" sp="300003"/>
              </a:custDash>
              <a:round/>
            </a:ln>
          </c:spPr>
          <c:cat>
            <c:strRef>
              <c:f>'40n_Contol_Traffic'!$A$2:$A$4</c:f>
              <c:strCache>
                <c:ptCount val="3"/>
                <c:pt idx="0">
                  <c:v>15m</c:v>
                </c:pt>
                <c:pt idx="1">
                  <c:v>10m</c:v>
                </c:pt>
                <c:pt idx="2">
                  <c:v>05m</c:v>
                </c:pt>
              </c:strCache>
            </c:strRef>
          </c:cat>
          <c:val>
            <c:numRef>
              <c:f>'40n_Contol_Traffic'!$D$2:$D$4</c:f>
              <c:numCache>
                <c:formatCode>General</c:formatCode>
                <c:ptCount val="3"/>
                <c:pt idx="0">
                  <c:v>97.97160243407707</c:v>
                </c:pt>
                <c:pt idx="1">
                  <c:v>96.072655866470299</c:v>
                </c:pt>
                <c:pt idx="2">
                  <c:v>90.480723465016652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9C3-4BD0-BE36-6A97DB3500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15810584"/>
        <c:axId val="315805992"/>
      </c:lineChart>
      <c:valAx>
        <c:axId val="315805992"/>
        <c:scaling>
          <c:orientation val="minMax"/>
          <c:min val="80"/>
        </c:scaling>
        <c:delete val="0"/>
        <c:axPos val="l"/>
        <c:majorGridlines>
          <c:spPr>
            <a:ln w="6345" cap="flat">
              <a:solidFill>
                <a:srgbClr val="B3B3B3"/>
              </a:solidFill>
              <a:prstDash val="solid"/>
              <a:round/>
            </a:ln>
          </c:spPr>
        </c:majorGridlines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rPr>
                  <a:t>Overhead [%]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315810584"/>
        <c:crossesAt val="1"/>
        <c:crossBetween val="between"/>
        <c:majorUnit val="5"/>
        <c:minorUnit val="2.5"/>
      </c:valAx>
      <c:catAx>
        <c:axId val="315810584"/>
        <c:scaling>
          <c:orientation val="minMax"/>
        </c:scaling>
        <c:delete val="0"/>
        <c:axPos val="b"/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rPr>
                  <a:t>Traffic Intensity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315805992"/>
        <c:crossesAt val="0"/>
        <c:auto val="1"/>
        <c:lblAlgn val="ctr"/>
        <c:lblOffset val="100"/>
        <c:noMultiLvlLbl val="0"/>
      </c:catAx>
      <c:spPr>
        <a:noFill/>
        <a:ln w="9528">
          <a:solidFill>
            <a:srgbClr val="B3B3B3"/>
          </a:solidFill>
          <a:prstDash val="solid"/>
        </a:ln>
      </c:spPr>
    </c:plotArea>
    <c:legend>
      <c:legendPos val="b"/>
      <c:overlay val="0"/>
      <c:spPr>
        <a:noFill/>
        <a:ln>
          <a:noFill/>
        </a:ln>
      </c:spPr>
      <c:txPr>
        <a:bodyPr lIns="0" tIns="0" rIns="0" bIns="0"/>
        <a:lstStyle/>
        <a:p>
          <a:pPr marL="0" marR="0" indent="0" defTabSz="914400" fontAlgn="auto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tabLst/>
            <a:defRPr sz="1000" b="0" i="0" u="none" strike="noStrike" kern="1200" baseline="0">
              <a:solidFill>
                <a:srgbClr val="000000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 lIns="0" tIns="0" rIns="0" bIns="0"/>
    <a:lstStyle/>
    <a:p>
      <a:pPr marL="0" marR="0" indent="0" defTabSz="914400" fontAlgn="auto" hangingPunct="1">
        <a:lnSpc>
          <a:spcPct val="100000"/>
        </a:lnSpc>
        <a:spcBef>
          <a:spcPts val="0"/>
        </a:spcBef>
        <a:spcAft>
          <a:spcPts val="0"/>
        </a:spcAft>
        <a:tabLst/>
        <a:defRPr lang="en-US" sz="1000" b="0" i="0" u="none" strike="noStrike" kern="1200" baseline="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lIns="0" tIns="0" rIns="0" bIns="0"/>
          <a:lstStyle/>
          <a:p>
            <a:pPr marL="0" marR="0" indent="0" algn="ctr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3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r>
              <a: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Control Traffic Overhead</a:t>
            </a:r>
          </a:p>
        </c:rich>
      </c:tx>
      <c:overlay val="0"/>
      <c:spPr>
        <a:noFill/>
        <a:ln>
          <a:noFill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'60n_Control_Traffic'!$B$1</c:f>
              <c:strCache>
                <c:ptCount val="1"/>
                <c:pt idx="0">
                  <c:v>Of0</c:v>
                </c:pt>
              </c:strCache>
            </c:strRef>
          </c:tx>
          <c:spPr>
            <a:ln w="28803" cap="rnd">
              <a:solidFill>
                <a:srgbClr val="002060"/>
              </a:solidFill>
              <a:custDash>
                <a:ds d="100000" sp="100000"/>
              </a:custDash>
              <a:round/>
            </a:ln>
          </c:spPr>
          <c:marker>
            <c:symbol val="square"/>
            <c:size val="7"/>
          </c:marker>
          <c:cat>
            <c:strRef>
              <c:f>'60n_Control_Traffic'!$A$2:$A$4</c:f>
              <c:strCache>
                <c:ptCount val="3"/>
                <c:pt idx="0">
                  <c:v>15m</c:v>
                </c:pt>
                <c:pt idx="1">
                  <c:v>10m</c:v>
                </c:pt>
                <c:pt idx="2">
                  <c:v>05m</c:v>
                </c:pt>
              </c:strCache>
            </c:strRef>
          </c:cat>
          <c:val>
            <c:numRef>
              <c:f>'60n_Control_Traffic'!$B$2:$B$4</c:f>
              <c:numCache>
                <c:formatCode>General</c:formatCode>
                <c:ptCount val="3"/>
                <c:pt idx="0">
                  <c:v>98.717400598546391</c:v>
                </c:pt>
                <c:pt idx="1">
                  <c:v>97.444633730834752</c:v>
                </c:pt>
                <c:pt idx="2">
                  <c:v>95.976934424031114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09D-445F-A4B1-13D46103D389}"/>
            </c:ext>
          </c:extLst>
        </c:ser>
        <c:ser>
          <c:idx val="1"/>
          <c:order val="1"/>
          <c:tx>
            <c:strRef>
              <c:f>'60n_Control_Traffic'!$C$1</c:f>
              <c:strCache>
                <c:ptCount val="1"/>
                <c:pt idx="0">
                  <c:v>MRHOF</c:v>
                </c:pt>
              </c:strCache>
            </c:strRef>
          </c:tx>
          <c:spPr>
            <a:ln w="28803" cap="rnd">
              <a:solidFill>
                <a:srgbClr val="C00000"/>
              </a:solidFill>
              <a:prstDash val="solid"/>
              <a:round/>
            </a:ln>
          </c:spPr>
          <c:marker>
            <c:symbol val="diamond"/>
            <c:size val="7"/>
          </c:marker>
          <c:cat>
            <c:strRef>
              <c:f>'60n_Control_Traffic'!$A$2:$A$4</c:f>
              <c:strCache>
                <c:ptCount val="3"/>
                <c:pt idx="0">
                  <c:v>15m</c:v>
                </c:pt>
                <c:pt idx="1">
                  <c:v>10m</c:v>
                </c:pt>
                <c:pt idx="2">
                  <c:v>05m</c:v>
                </c:pt>
              </c:strCache>
            </c:strRef>
          </c:cat>
          <c:val>
            <c:numRef>
              <c:f>'60n_Control_Traffic'!$C$2:$C$4</c:f>
              <c:numCache>
                <c:formatCode>General</c:formatCode>
                <c:ptCount val="3"/>
                <c:pt idx="0">
                  <c:v>97.799779977997801</c:v>
                </c:pt>
                <c:pt idx="1">
                  <c:v>95.711222301644028</c:v>
                </c:pt>
                <c:pt idx="2">
                  <c:v>90.451941438574153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09D-445F-A4B1-13D46103D389}"/>
            </c:ext>
          </c:extLst>
        </c:ser>
        <c:ser>
          <c:idx val="2"/>
          <c:order val="2"/>
          <c:tx>
            <c:strRef>
              <c:f>'60n_Control_Traffic'!$D$1</c:f>
              <c:strCache>
                <c:ptCount val="1"/>
                <c:pt idx="0">
                  <c:v>OF SEEMI</c:v>
                </c:pt>
              </c:strCache>
            </c:strRef>
          </c:tx>
          <c:spPr>
            <a:ln w="28803" cap="rnd">
              <a:solidFill>
                <a:srgbClr val="262626"/>
              </a:solidFill>
              <a:custDash>
                <a:ds d="300003" sp="300003"/>
              </a:custDash>
              <a:round/>
            </a:ln>
          </c:spPr>
          <c:cat>
            <c:strRef>
              <c:f>'60n_Control_Traffic'!$A$2:$A$4</c:f>
              <c:strCache>
                <c:ptCount val="3"/>
                <c:pt idx="0">
                  <c:v>15m</c:v>
                </c:pt>
                <c:pt idx="1">
                  <c:v>10m</c:v>
                </c:pt>
                <c:pt idx="2">
                  <c:v>05m</c:v>
                </c:pt>
              </c:strCache>
            </c:strRef>
          </c:cat>
          <c:val>
            <c:numRef>
              <c:f>'60n_Control_Traffic'!$D$2:$D$4</c:f>
              <c:numCache>
                <c:formatCode>General</c:formatCode>
                <c:ptCount val="3"/>
                <c:pt idx="0">
                  <c:v>97.799779977997801</c:v>
                </c:pt>
                <c:pt idx="1">
                  <c:v>95.711222301644028</c:v>
                </c:pt>
                <c:pt idx="2">
                  <c:v>90.451941438574153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09D-445F-A4B1-13D46103D3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15807960"/>
        <c:axId val="315804680"/>
      </c:lineChart>
      <c:valAx>
        <c:axId val="315804680"/>
        <c:scaling>
          <c:orientation val="minMax"/>
          <c:max val="100"/>
          <c:min val="80"/>
        </c:scaling>
        <c:delete val="0"/>
        <c:axPos val="l"/>
        <c:majorGridlines>
          <c:spPr>
            <a:ln w="6345" cap="flat">
              <a:solidFill>
                <a:srgbClr val="B3B3B3"/>
              </a:solidFill>
              <a:prstDash val="solid"/>
              <a:round/>
            </a:ln>
          </c:spPr>
        </c:majorGridlines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rPr>
                  <a:t>Overhead [%]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315807960"/>
        <c:crossesAt val="1"/>
        <c:crossBetween val="between"/>
        <c:majorUnit val="5"/>
        <c:minorUnit val="2.5"/>
      </c:valAx>
      <c:catAx>
        <c:axId val="315807960"/>
        <c:scaling>
          <c:orientation val="minMax"/>
        </c:scaling>
        <c:delete val="0"/>
        <c:axPos val="b"/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rPr>
                  <a:t>Traffic Intensity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315804680"/>
        <c:crossesAt val="0"/>
        <c:auto val="1"/>
        <c:lblAlgn val="ctr"/>
        <c:lblOffset val="100"/>
        <c:noMultiLvlLbl val="0"/>
      </c:catAx>
      <c:spPr>
        <a:noFill/>
        <a:ln w="9528">
          <a:solidFill>
            <a:srgbClr val="B3B3B3"/>
          </a:solidFill>
          <a:prstDash val="solid"/>
        </a:ln>
      </c:spPr>
    </c:plotArea>
    <c:legend>
      <c:legendPos val="b"/>
      <c:overlay val="0"/>
      <c:spPr>
        <a:noFill/>
        <a:ln>
          <a:noFill/>
        </a:ln>
      </c:spPr>
      <c:txPr>
        <a:bodyPr lIns="0" tIns="0" rIns="0" bIns="0"/>
        <a:lstStyle/>
        <a:p>
          <a:pPr marL="0" marR="0" indent="0" defTabSz="914400" fontAlgn="auto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tabLst/>
            <a:defRPr sz="1000" b="0" i="0" u="none" strike="noStrike" kern="1200" baseline="0">
              <a:solidFill>
                <a:srgbClr val="000000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 lIns="0" tIns="0" rIns="0" bIns="0"/>
    <a:lstStyle/>
    <a:p>
      <a:pPr marL="0" marR="0" indent="0" defTabSz="914400" fontAlgn="auto" hangingPunct="1">
        <a:lnSpc>
          <a:spcPct val="100000"/>
        </a:lnSpc>
        <a:spcBef>
          <a:spcPts val="0"/>
        </a:spcBef>
        <a:spcAft>
          <a:spcPts val="0"/>
        </a:spcAft>
        <a:tabLst/>
        <a:defRPr lang="en-US" sz="1000" b="0" i="0" u="none" strike="noStrike" kern="1200" baseline="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lIns="0" tIns="0" rIns="0" bIns="0"/>
          <a:lstStyle/>
          <a:p>
            <a:pPr marL="0" marR="0" indent="0" algn="ctr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3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r>
              <a: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Control Traffic Overhead</a:t>
            </a:r>
          </a:p>
        </c:rich>
      </c:tx>
      <c:overlay val="0"/>
      <c:spPr>
        <a:noFill/>
        <a:ln>
          <a:noFill/>
        </a:ln>
      </c:spPr>
    </c:title>
    <c:autoTitleDeleted val="0"/>
    <c:plotArea>
      <c:layout>
        <c:manualLayout>
          <c:xMode val="edge"/>
          <c:yMode val="edge"/>
          <c:x val="5.5092413904701688E-2"/>
          <c:y val="0.12493621986359617"/>
          <c:w val="0.92065215900403807"/>
          <c:h val="0.69054881013197433"/>
        </c:manualLayout>
      </c:layout>
      <c:lineChart>
        <c:grouping val="standard"/>
        <c:varyColors val="0"/>
        <c:ser>
          <c:idx val="0"/>
          <c:order val="0"/>
          <c:tx>
            <c:strRef>
              <c:f>'80n_Control_Traffic'!$B$1</c:f>
              <c:strCache>
                <c:ptCount val="1"/>
                <c:pt idx="0">
                  <c:v>Of0</c:v>
                </c:pt>
              </c:strCache>
            </c:strRef>
          </c:tx>
          <c:spPr>
            <a:ln w="28803" cap="rnd">
              <a:solidFill>
                <a:srgbClr val="004586"/>
              </a:solidFill>
              <a:custDash>
                <a:ds d="100000" sp="100000"/>
              </a:custDash>
              <a:round/>
            </a:ln>
          </c:spPr>
          <c:marker>
            <c:symbol val="square"/>
            <c:size val="7"/>
          </c:marker>
          <c:dPt>
            <c:idx val="2"/>
            <c:bubble3D val="0"/>
            <c:spPr>
              <a:ln w="28803" cap="rnd">
                <a:solidFill>
                  <a:srgbClr val="002060"/>
                </a:solidFill>
                <a:custDash>
                  <a:ds d="100000" sp="100000"/>
                </a:custDash>
                <a:round/>
              </a:ln>
            </c:spPr>
            <c:extLst>
              <c:ext xmlns:c16="http://schemas.microsoft.com/office/drawing/2014/chart" uri="{C3380CC4-5D6E-409C-BE32-E72D297353CC}">
                <c16:uniqueId val="{00000001-445D-4C8F-BCE9-F2CBD34C7678}"/>
              </c:ext>
            </c:extLst>
          </c:dPt>
          <c:cat>
            <c:strRef>
              <c:f>'80n_Control_Traffic'!$A$2:$A$4</c:f>
              <c:strCache>
                <c:ptCount val="3"/>
                <c:pt idx="0">
                  <c:v>15m</c:v>
                </c:pt>
                <c:pt idx="1">
                  <c:v>10m</c:v>
                </c:pt>
                <c:pt idx="2">
                  <c:v>05m</c:v>
                </c:pt>
              </c:strCache>
            </c:strRef>
          </c:cat>
          <c:val>
            <c:numRef>
              <c:f>'80n_Control_Traffic'!$B$2:$B$4</c:f>
              <c:numCache>
                <c:formatCode>General</c:formatCode>
                <c:ptCount val="3"/>
                <c:pt idx="0">
                  <c:v>98.973701090442589</c:v>
                </c:pt>
                <c:pt idx="1">
                  <c:v>97.673742366967147</c:v>
                </c:pt>
                <c:pt idx="2">
                  <c:v>95.626981523996932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45D-4C8F-BCE9-F2CBD34C7678}"/>
            </c:ext>
          </c:extLst>
        </c:ser>
        <c:ser>
          <c:idx val="1"/>
          <c:order val="1"/>
          <c:tx>
            <c:strRef>
              <c:f>'80n_Control_Traffic'!$C$1</c:f>
              <c:strCache>
                <c:ptCount val="1"/>
                <c:pt idx="0">
                  <c:v>MRHOF</c:v>
                </c:pt>
              </c:strCache>
            </c:strRef>
          </c:tx>
          <c:spPr>
            <a:ln w="28803" cap="rnd">
              <a:solidFill>
                <a:srgbClr val="C00000"/>
              </a:solidFill>
              <a:prstDash val="solid"/>
              <a:round/>
            </a:ln>
          </c:spPr>
          <c:marker>
            <c:symbol val="diamond"/>
            <c:size val="7"/>
          </c:marker>
          <c:cat>
            <c:strRef>
              <c:f>'80n_Control_Traffic'!$A$2:$A$4</c:f>
              <c:strCache>
                <c:ptCount val="3"/>
                <c:pt idx="0">
                  <c:v>15m</c:v>
                </c:pt>
                <c:pt idx="1">
                  <c:v>10m</c:v>
                </c:pt>
                <c:pt idx="2">
                  <c:v>05m</c:v>
                </c:pt>
              </c:strCache>
            </c:strRef>
          </c:cat>
          <c:val>
            <c:numRef>
              <c:f>'80n_Control_Traffic'!$C$2:$C$4</c:f>
              <c:numCache>
                <c:formatCode>General</c:formatCode>
                <c:ptCount val="3"/>
                <c:pt idx="0">
                  <c:v>97.979797979797979</c:v>
                </c:pt>
                <c:pt idx="1">
                  <c:v>96.151070483521778</c:v>
                </c:pt>
                <c:pt idx="2">
                  <c:v>89.944695827048776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45D-4C8F-BCE9-F2CBD34C7678}"/>
            </c:ext>
          </c:extLst>
        </c:ser>
        <c:ser>
          <c:idx val="2"/>
          <c:order val="2"/>
          <c:tx>
            <c:strRef>
              <c:f>'80n_Control_Traffic'!$D$1</c:f>
              <c:strCache>
                <c:ptCount val="1"/>
                <c:pt idx="0">
                  <c:v>OF SEEMI</c:v>
                </c:pt>
              </c:strCache>
            </c:strRef>
          </c:tx>
          <c:spPr>
            <a:ln w="28803" cap="rnd">
              <a:solidFill>
                <a:srgbClr val="262626"/>
              </a:solidFill>
              <a:custDash>
                <a:ds d="300003" sp="300003"/>
              </a:custDash>
              <a:round/>
            </a:ln>
          </c:spPr>
          <c:cat>
            <c:strRef>
              <c:f>'80n_Control_Traffic'!$A$2:$A$4</c:f>
              <c:strCache>
                <c:ptCount val="3"/>
                <c:pt idx="0">
                  <c:v>15m</c:v>
                </c:pt>
                <c:pt idx="1">
                  <c:v>10m</c:v>
                </c:pt>
                <c:pt idx="2">
                  <c:v>05m</c:v>
                </c:pt>
              </c:strCache>
            </c:strRef>
          </c:cat>
          <c:val>
            <c:numRef>
              <c:f>'80n_Control_Traffic'!$D$2:$D$4</c:f>
              <c:numCache>
                <c:formatCode>General</c:formatCode>
                <c:ptCount val="3"/>
                <c:pt idx="0">
                  <c:v>97.979797979797979</c:v>
                </c:pt>
                <c:pt idx="1">
                  <c:v>96.151070483521778</c:v>
                </c:pt>
                <c:pt idx="2">
                  <c:v>89.944695827048776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445D-4C8F-BCE9-F2CBD34C76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18423328"/>
        <c:axId val="318429888"/>
      </c:lineChart>
      <c:valAx>
        <c:axId val="318429888"/>
        <c:scaling>
          <c:orientation val="minMax"/>
          <c:max val="100"/>
          <c:min val="80"/>
        </c:scaling>
        <c:delete val="0"/>
        <c:axPos val="l"/>
        <c:majorGridlines>
          <c:spPr>
            <a:ln w="6345" cap="flat">
              <a:solidFill>
                <a:srgbClr val="B3B3B3"/>
              </a:solidFill>
              <a:prstDash val="solid"/>
              <a:round/>
            </a:ln>
          </c:spPr>
        </c:majorGridlines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rPr>
                  <a:t>Overhead [%]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318423328"/>
        <c:crossesAt val="1"/>
        <c:crossBetween val="between"/>
        <c:majorUnit val="5"/>
        <c:minorUnit val="2.5"/>
      </c:valAx>
      <c:catAx>
        <c:axId val="318423328"/>
        <c:scaling>
          <c:orientation val="minMax"/>
        </c:scaling>
        <c:delete val="0"/>
        <c:axPos val="b"/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rPr>
                  <a:t>Traffic Intensity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318429888"/>
        <c:crossesAt val="0"/>
        <c:auto val="1"/>
        <c:lblAlgn val="ctr"/>
        <c:lblOffset val="100"/>
        <c:noMultiLvlLbl val="0"/>
      </c:catAx>
      <c:spPr>
        <a:noFill/>
        <a:ln w="9528">
          <a:solidFill>
            <a:srgbClr val="B3B3B3"/>
          </a:solidFill>
          <a:prstDash val="solid"/>
        </a:ln>
      </c:spPr>
    </c:plotArea>
    <c:legend>
      <c:legendPos val="b"/>
      <c:overlay val="0"/>
      <c:spPr>
        <a:noFill/>
        <a:ln>
          <a:noFill/>
        </a:ln>
      </c:spPr>
      <c:txPr>
        <a:bodyPr lIns="0" tIns="0" rIns="0" bIns="0"/>
        <a:lstStyle/>
        <a:p>
          <a:pPr marL="0" marR="0" indent="0" defTabSz="914400" fontAlgn="auto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tabLst/>
            <a:defRPr sz="1000" b="0" i="0" u="none" strike="noStrike" kern="1200" baseline="0">
              <a:solidFill>
                <a:srgbClr val="000000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 lIns="0" tIns="0" rIns="0" bIns="0"/>
    <a:lstStyle/>
    <a:p>
      <a:pPr marL="0" marR="0" indent="0" defTabSz="914400" fontAlgn="auto" hangingPunct="1">
        <a:lnSpc>
          <a:spcPct val="100000"/>
        </a:lnSpc>
        <a:spcBef>
          <a:spcPts val="0"/>
        </a:spcBef>
        <a:spcAft>
          <a:spcPts val="0"/>
        </a:spcAft>
        <a:tabLst/>
        <a:defRPr lang="en-US" sz="1000" b="0" i="0" u="none" strike="noStrike" kern="1200" baseline="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lIns="0" tIns="0" rIns="0" bIns="0"/>
          <a:lstStyle/>
          <a:p>
            <a:pPr marL="0" marR="0" indent="0" algn="ctr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3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r>
              <a: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Throughput</a:t>
            </a:r>
          </a:p>
        </c:rich>
      </c:tx>
      <c:overlay val="0"/>
      <c:spPr>
        <a:noFill/>
        <a:ln>
          <a:noFill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'40n'!$H$2</c:f>
              <c:strCache>
                <c:ptCount val="1"/>
                <c:pt idx="0">
                  <c:v>Of0</c:v>
                </c:pt>
              </c:strCache>
            </c:strRef>
          </c:tx>
          <c:spPr>
            <a:ln w="28803" cap="rnd">
              <a:solidFill>
                <a:srgbClr val="004586"/>
              </a:solidFill>
              <a:custDash>
                <a:ds d="100000" sp="100000"/>
              </a:custDash>
              <a:round/>
            </a:ln>
          </c:spPr>
          <c:marker>
            <c:symbol val="square"/>
            <c:size val="7"/>
          </c:marker>
          <c:cat>
            <c:strRef>
              <c:f>'40n'!$A$3:$A$5</c:f>
              <c:strCache>
                <c:ptCount val="3"/>
                <c:pt idx="0">
                  <c:v>15m</c:v>
                </c:pt>
                <c:pt idx="1">
                  <c:v>10m</c:v>
                </c:pt>
                <c:pt idx="2">
                  <c:v>05m</c:v>
                </c:pt>
              </c:strCache>
            </c:strRef>
          </c:cat>
          <c:val>
            <c:numRef>
              <c:f>'40n'!$H$3:$H$5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811-4FE5-A952-DF52130E41A5}"/>
            </c:ext>
          </c:extLst>
        </c:ser>
        <c:ser>
          <c:idx val="1"/>
          <c:order val="1"/>
          <c:tx>
            <c:strRef>
              <c:f>'40n'!$I$2</c:f>
              <c:strCache>
                <c:ptCount val="1"/>
                <c:pt idx="0">
                  <c:v>MRHOF</c:v>
                </c:pt>
              </c:strCache>
            </c:strRef>
          </c:tx>
          <c:spPr>
            <a:ln w="28803" cap="rnd">
              <a:solidFill>
                <a:srgbClr val="C00000"/>
              </a:solidFill>
              <a:prstDash val="solid"/>
              <a:round/>
            </a:ln>
          </c:spPr>
          <c:marker>
            <c:symbol val="diamond"/>
            <c:size val="7"/>
          </c:marker>
          <c:cat>
            <c:strRef>
              <c:f>'40n'!$A$3:$A$5</c:f>
              <c:strCache>
                <c:ptCount val="3"/>
                <c:pt idx="0">
                  <c:v>15m</c:v>
                </c:pt>
                <c:pt idx="1">
                  <c:v>10m</c:v>
                </c:pt>
                <c:pt idx="2">
                  <c:v>05m</c:v>
                </c:pt>
              </c:strCache>
            </c:strRef>
          </c:cat>
          <c:val>
            <c:numRef>
              <c:f>'40n'!$I$3:$I$5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811-4FE5-A952-DF52130E41A5}"/>
            </c:ext>
          </c:extLst>
        </c:ser>
        <c:ser>
          <c:idx val="2"/>
          <c:order val="2"/>
          <c:tx>
            <c:strRef>
              <c:f>'40n'!$J$2</c:f>
              <c:strCache>
                <c:ptCount val="1"/>
                <c:pt idx="0">
                  <c:v>OF SEEMI</c:v>
                </c:pt>
              </c:strCache>
            </c:strRef>
          </c:tx>
          <c:spPr>
            <a:ln w="28803" cap="rnd">
              <a:solidFill>
                <a:srgbClr val="262626"/>
              </a:solidFill>
              <a:custDash>
                <a:ds d="300003" sp="300003"/>
              </a:custDash>
              <a:round/>
            </a:ln>
          </c:spPr>
          <c:cat>
            <c:strRef>
              <c:f>'40n'!$A$3:$A$5</c:f>
              <c:strCache>
                <c:ptCount val="3"/>
                <c:pt idx="0">
                  <c:v>15m</c:v>
                </c:pt>
                <c:pt idx="1">
                  <c:v>10m</c:v>
                </c:pt>
                <c:pt idx="2">
                  <c:v>05m</c:v>
                </c:pt>
              </c:strCache>
            </c:strRef>
          </c:cat>
          <c:val>
            <c:numRef>
              <c:f>'40n'!$J$3:$J$5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811-4FE5-A952-DF52130E41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18428576"/>
        <c:axId val="318430216"/>
      </c:lineChart>
      <c:valAx>
        <c:axId val="318430216"/>
        <c:scaling>
          <c:orientation val="minMax"/>
          <c:max val="100"/>
          <c:min val="95"/>
        </c:scaling>
        <c:delete val="0"/>
        <c:axPos val="l"/>
        <c:majorGridlines>
          <c:spPr>
            <a:ln w="6345" cap="flat">
              <a:solidFill>
                <a:srgbClr val="B3B3B3"/>
              </a:solidFill>
              <a:prstDash val="solid"/>
              <a:round/>
            </a:ln>
          </c:spPr>
        </c:majorGridlines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rPr>
                  <a:t>Throughput [%]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318428576"/>
        <c:crossesAt val="1"/>
        <c:crossBetween val="between"/>
        <c:majorUnit val="1"/>
        <c:minorUnit val="1"/>
      </c:valAx>
      <c:catAx>
        <c:axId val="318428576"/>
        <c:scaling>
          <c:orientation val="minMax"/>
        </c:scaling>
        <c:delete val="0"/>
        <c:axPos val="b"/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rPr>
                  <a:t>Traffic Intensity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318430216"/>
        <c:crossesAt val="0"/>
        <c:auto val="1"/>
        <c:lblAlgn val="ctr"/>
        <c:lblOffset val="100"/>
        <c:noMultiLvlLbl val="0"/>
      </c:catAx>
      <c:spPr>
        <a:noFill/>
        <a:ln w="9528">
          <a:solidFill>
            <a:srgbClr val="B3B3B3"/>
          </a:solidFill>
          <a:prstDash val="solid"/>
        </a:ln>
      </c:spPr>
    </c:plotArea>
    <c:legend>
      <c:legendPos val="b"/>
      <c:overlay val="0"/>
      <c:spPr>
        <a:noFill/>
        <a:ln>
          <a:noFill/>
        </a:ln>
      </c:spPr>
      <c:txPr>
        <a:bodyPr lIns="0" tIns="0" rIns="0" bIns="0"/>
        <a:lstStyle/>
        <a:p>
          <a:pPr marL="0" marR="0" indent="0" defTabSz="914400" fontAlgn="auto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tabLst/>
            <a:defRPr sz="1000" b="0" i="0" u="none" strike="noStrike" kern="1200" baseline="0">
              <a:solidFill>
                <a:srgbClr val="000000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 lIns="0" tIns="0" rIns="0" bIns="0"/>
    <a:lstStyle/>
    <a:p>
      <a:pPr marL="0" marR="0" indent="0" defTabSz="914400" fontAlgn="auto" hangingPunct="1">
        <a:lnSpc>
          <a:spcPct val="100000"/>
        </a:lnSpc>
        <a:spcBef>
          <a:spcPts val="0"/>
        </a:spcBef>
        <a:spcAft>
          <a:spcPts val="0"/>
        </a:spcAft>
        <a:tabLst/>
        <a:defRPr lang="en-US" sz="1000" b="0" i="0" u="none" strike="noStrike" kern="1200" baseline="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lIns="0" tIns="0" rIns="0" bIns="0"/>
          <a:lstStyle/>
          <a:p>
            <a:pPr marL="0" marR="0" indent="0" algn="ctr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3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r>
              <a: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Throughput</a:t>
            </a:r>
          </a:p>
        </c:rich>
      </c:tx>
      <c:overlay val="0"/>
      <c:spPr>
        <a:noFill/>
        <a:ln>
          <a:noFill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'60n'!$H$2</c:f>
              <c:strCache>
                <c:ptCount val="1"/>
                <c:pt idx="0">
                  <c:v>Of0</c:v>
                </c:pt>
              </c:strCache>
            </c:strRef>
          </c:tx>
          <c:spPr>
            <a:ln w="28803" cap="rnd">
              <a:solidFill>
                <a:srgbClr val="002060"/>
              </a:solidFill>
              <a:custDash>
                <a:ds d="100000" sp="100000"/>
              </a:custDash>
              <a:round/>
            </a:ln>
          </c:spPr>
          <c:marker>
            <c:symbol val="square"/>
            <c:size val="7"/>
          </c:marker>
          <c:cat>
            <c:strRef>
              <c:f>'60n'!$A$3:$A$5</c:f>
              <c:strCache>
                <c:ptCount val="3"/>
                <c:pt idx="0">
                  <c:v>15m</c:v>
                </c:pt>
                <c:pt idx="1">
                  <c:v>10m</c:v>
                </c:pt>
                <c:pt idx="2">
                  <c:v>05m</c:v>
                </c:pt>
              </c:strCache>
            </c:strRef>
          </c:cat>
          <c:val>
            <c:numRef>
              <c:f>'60n'!$H$3:$H$5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97.666666666666671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940-4219-83AF-2C50D223FC1A}"/>
            </c:ext>
          </c:extLst>
        </c:ser>
        <c:ser>
          <c:idx val="1"/>
          <c:order val="1"/>
          <c:tx>
            <c:strRef>
              <c:f>'60n'!$I$2</c:f>
              <c:strCache>
                <c:ptCount val="1"/>
                <c:pt idx="0">
                  <c:v>MRHOF</c:v>
                </c:pt>
              </c:strCache>
            </c:strRef>
          </c:tx>
          <c:spPr>
            <a:ln w="28803" cap="rnd">
              <a:solidFill>
                <a:srgbClr val="C00000"/>
              </a:solidFill>
              <a:prstDash val="solid"/>
              <a:round/>
            </a:ln>
          </c:spPr>
          <c:marker>
            <c:symbol val="diamond"/>
            <c:size val="7"/>
          </c:marker>
          <c:cat>
            <c:strRef>
              <c:f>'60n'!$A$3:$A$5</c:f>
              <c:strCache>
                <c:ptCount val="3"/>
                <c:pt idx="0">
                  <c:v>15m</c:v>
                </c:pt>
                <c:pt idx="1">
                  <c:v>10m</c:v>
                </c:pt>
                <c:pt idx="2">
                  <c:v>05m</c:v>
                </c:pt>
              </c:strCache>
            </c:strRef>
          </c:cat>
          <c:val>
            <c:numRef>
              <c:f>'60n'!$I$3:$I$5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99.350649350649363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40-4219-83AF-2C50D223FC1A}"/>
            </c:ext>
          </c:extLst>
        </c:ser>
        <c:ser>
          <c:idx val="2"/>
          <c:order val="2"/>
          <c:tx>
            <c:strRef>
              <c:f>'60n'!$J$2</c:f>
              <c:strCache>
                <c:ptCount val="1"/>
                <c:pt idx="0">
                  <c:v>OF SEEMI</c:v>
                </c:pt>
              </c:strCache>
            </c:strRef>
          </c:tx>
          <c:spPr>
            <a:ln w="28803" cap="rnd">
              <a:solidFill>
                <a:srgbClr val="262626"/>
              </a:solidFill>
              <a:custDash>
                <a:ds d="300003" sp="300003"/>
              </a:custDash>
              <a:round/>
            </a:ln>
          </c:spPr>
          <c:cat>
            <c:strRef>
              <c:f>'60n'!$A$3:$A$5</c:f>
              <c:strCache>
                <c:ptCount val="3"/>
                <c:pt idx="0">
                  <c:v>15m</c:v>
                </c:pt>
                <c:pt idx="1">
                  <c:v>10m</c:v>
                </c:pt>
                <c:pt idx="2">
                  <c:v>05m</c:v>
                </c:pt>
              </c:strCache>
            </c:strRef>
          </c:cat>
          <c:val>
            <c:numRef>
              <c:f>'60n'!$J$3:$J$5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99.35275080906149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940-4219-83AF-2C50D223FC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18423984"/>
        <c:axId val="318423656"/>
      </c:lineChart>
      <c:valAx>
        <c:axId val="318423656"/>
        <c:scaling>
          <c:orientation val="minMax"/>
          <c:max val="100"/>
          <c:min val="95"/>
        </c:scaling>
        <c:delete val="0"/>
        <c:axPos val="l"/>
        <c:majorGridlines>
          <c:spPr>
            <a:ln w="6345" cap="flat">
              <a:solidFill>
                <a:srgbClr val="B3B3B3"/>
              </a:solidFill>
              <a:prstDash val="solid"/>
              <a:round/>
            </a:ln>
          </c:spPr>
        </c:majorGridlines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rPr>
                  <a:t>Throughput [ % ]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318423984"/>
        <c:crossesAt val="1"/>
        <c:crossBetween val="between"/>
        <c:majorUnit val="1"/>
      </c:valAx>
      <c:catAx>
        <c:axId val="318423984"/>
        <c:scaling>
          <c:orientation val="minMax"/>
        </c:scaling>
        <c:delete val="0"/>
        <c:axPos val="b"/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rPr>
                  <a:t>Traffic Intensity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318423656"/>
        <c:crossesAt val="0"/>
        <c:auto val="1"/>
        <c:lblAlgn val="ctr"/>
        <c:lblOffset val="100"/>
        <c:noMultiLvlLbl val="0"/>
      </c:catAx>
      <c:spPr>
        <a:noFill/>
        <a:ln w="9528">
          <a:solidFill>
            <a:srgbClr val="B3B3B3"/>
          </a:solidFill>
          <a:prstDash val="solid"/>
        </a:ln>
      </c:spPr>
    </c:plotArea>
    <c:legend>
      <c:legendPos val="b"/>
      <c:overlay val="0"/>
      <c:spPr>
        <a:noFill/>
        <a:ln>
          <a:noFill/>
        </a:ln>
      </c:spPr>
      <c:txPr>
        <a:bodyPr lIns="0" tIns="0" rIns="0" bIns="0"/>
        <a:lstStyle/>
        <a:p>
          <a:pPr marL="0" marR="0" indent="0" defTabSz="914400" fontAlgn="auto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tabLst/>
            <a:defRPr sz="1000" b="0" i="0" u="none" strike="noStrike" kern="1200" baseline="0">
              <a:solidFill>
                <a:srgbClr val="000000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 lIns="0" tIns="0" rIns="0" bIns="0"/>
    <a:lstStyle/>
    <a:p>
      <a:pPr marL="0" marR="0" indent="0" defTabSz="914400" fontAlgn="auto" hangingPunct="1">
        <a:lnSpc>
          <a:spcPct val="100000"/>
        </a:lnSpc>
        <a:spcBef>
          <a:spcPts val="0"/>
        </a:spcBef>
        <a:spcAft>
          <a:spcPts val="0"/>
        </a:spcAft>
        <a:tabLst/>
        <a:defRPr lang="en-US" sz="1000" b="0" i="0" u="none" strike="noStrike" kern="1200" baseline="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lIns="0" tIns="0" rIns="0" bIns="0"/>
          <a:lstStyle/>
          <a:p>
            <a:pPr marL="0" marR="0" indent="0" algn="ctr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3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r>
              <a: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Throughput</a:t>
            </a:r>
          </a:p>
        </c:rich>
      </c:tx>
      <c:overlay val="0"/>
      <c:spPr>
        <a:noFill/>
        <a:ln>
          <a:noFill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'80n'!$H$2</c:f>
              <c:strCache>
                <c:ptCount val="1"/>
                <c:pt idx="0">
                  <c:v>Of0</c:v>
                </c:pt>
              </c:strCache>
            </c:strRef>
          </c:tx>
          <c:spPr>
            <a:ln w="28803" cap="rnd">
              <a:solidFill>
                <a:srgbClr val="002060"/>
              </a:solidFill>
              <a:custDash>
                <a:ds d="100000" sp="100000"/>
              </a:custDash>
              <a:round/>
            </a:ln>
          </c:spPr>
          <c:marker>
            <c:symbol val="square"/>
            <c:size val="7"/>
          </c:marker>
          <c:cat>
            <c:strRef>
              <c:f>'80n'!$A$3:$A$5</c:f>
              <c:strCache>
                <c:ptCount val="3"/>
                <c:pt idx="0">
                  <c:v>15m</c:v>
                </c:pt>
                <c:pt idx="1">
                  <c:v>10m</c:v>
                </c:pt>
                <c:pt idx="2">
                  <c:v>05m</c:v>
                </c:pt>
              </c:strCache>
            </c:strRef>
          </c:cat>
          <c:val>
            <c:numRef>
              <c:f>'80n'!$H$3:$H$5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98.529411764705884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FAB-4E00-A0BC-43331EDB6618}"/>
            </c:ext>
          </c:extLst>
        </c:ser>
        <c:ser>
          <c:idx val="1"/>
          <c:order val="1"/>
          <c:tx>
            <c:strRef>
              <c:f>'80n'!$I$2</c:f>
              <c:strCache>
                <c:ptCount val="1"/>
                <c:pt idx="0">
                  <c:v>MRHOF</c:v>
                </c:pt>
              </c:strCache>
            </c:strRef>
          </c:tx>
          <c:spPr>
            <a:ln w="28803" cap="rnd">
              <a:solidFill>
                <a:srgbClr val="C00000"/>
              </a:solidFill>
              <a:prstDash val="solid"/>
              <a:round/>
            </a:ln>
          </c:spPr>
          <c:marker>
            <c:symbol val="diamond"/>
            <c:size val="7"/>
          </c:marker>
          <c:cat>
            <c:strRef>
              <c:f>'80n'!$A$3:$A$5</c:f>
              <c:strCache>
                <c:ptCount val="3"/>
                <c:pt idx="0">
                  <c:v>15m</c:v>
                </c:pt>
                <c:pt idx="1">
                  <c:v>10m</c:v>
                </c:pt>
                <c:pt idx="2">
                  <c:v>05m</c:v>
                </c:pt>
              </c:strCache>
            </c:strRef>
          </c:cat>
          <c:val>
            <c:numRef>
              <c:f>'80n'!$I$3:$I$5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99.040767386091119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FAB-4E00-A0BC-43331EDB6618}"/>
            </c:ext>
          </c:extLst>
        </c:ser>
        <c:ser>
          <c:idx val="2"/>
          <c:order val="2"/>
          <c:tx>
            <c:strRef>
              <c:f>'80n'!$J$2</c:f>
              <c:strCache>
                <c:ptCount val="1"/>
                <c:pt idx="0">
                  <c:v>OF SEEMI</c:v>
                </c:pt>
              </c:strCache>
            </c:strRef>
          </c:tx>
          <c:spPr>
            <a:ln w="28803" cap="rnd">
              <a:solidFill>
                <a:srgbClr val="262626"/>
              </a:solidFill>
              <a:custDash>
                <a:ds d="300003" sp="300003"/>
              </a:custDash>
              <a:round/>
            </a:ln>
          </c:spPr>
          <c:cat>
            <c:strRef>
              <c:f>'80n'!$A$3:$A$5</c:f>
              <c:strCache>
                <c:ptCount val="3"/>
                <c:pt idx="0">
                  <c:v>15m</c:v>
                </c:pt>
                <c:pt idx="1">
                  <c:v>10m</c:v>
                </c:pt>
                <c:pt idx="2">
                  <c:v>05m</c:v>
                </c:pt>
              </c:strCache>
            </c:strRef>
          </c:cat>
          <c:val>
            <c:numRef>
              <c:f>'80n'!$J$3:$J$5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99.01477832512316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FAB-4E00-A0BC-43331EDB66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19650104"/>
        <c:axId val="318429232"/>
      </c:lineChart>
      <c:valAx>
        <c:axId val="318429232"/>
        <c:scaling>
          <c:orientation val="minMax"/>
          <c:max val="100"/>
          <c:min val="95"/>
        </c:scaling>
        <c:delete val="0"/>
        <c:axPos val="l"/>
        <c:majorGridlines>
          <c:spPr>
            <a:ln w="6345" cap="flat">
              <a:solidFill>
                <a:srgbClr val="B3B3B3"/>
              </a:solidFill>
              <a:prstDash val="solid"/>
              <a:round/>
            </a:ln>
          </c:spPr>
        </c:majorGridlines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rPr>
                  <a:t>Throughpuut [%]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319650104"/>
        <c:crossesAt val="1"/>
        <c:crossBetween val="between"/>
        <c:majorUnit val="1"/>
      </c:valAx>
      <c:catAx>
        <c:axId val="319650104"/>
        <c:scaling>
          <c:orientation val="minMax"/>
        </c:scaling>
        <c:delete val="0"/>
        <c:axPos val="b"/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rPr>
                  <a:t>Traffic Intensity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318429232"/>
        <c:crossesAt val="0"/>
        <c:auto val="1"/>
        <c:lblAlgn val="ctr"/>
        <c:lblOffset val="100"/>
        <c:noMultiLvlLbl val="0"/>
      </c:catAx>
      <c:spPr>
        <a:noFill/>
        <a:ln w="9528">
          <a:solidFill>
            <a:srgbClr val="B3B3B3"/>
          </a:solidFill>
          <a:prstDash val="solid"/>
        </a:ln>
      </c:spPr>
    </c:plotArea>
    <c:legend>
      <c:legendPos val="b"/>
      <c:overlay val="0"/>
      <c:spPr>
        <a:noFill/>
        <a:ln>
          <a:noFill/>
        </a:ln>
      </c:spPr>
      <c:txPr>
        <a:bodyPr lIns="0" tIns="0" rIns="0" bIns="0"/>
        <a:lstStyle/>
        <a:p>
          <a:pPr marL="0" marR="0" indent="0" defTabSz="914400" fontAlgn="auto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tabLst/>
            <a:defRPr sz="1000" b="0" i="0" u="none" strike="noStrike" kern="1200" baseline="0">
              <a:solidFill>
                <a:srgbClr val="000000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 lIns="0" tIns="0" rIns="0" bIns="0"/>
    <a:lstStyle/>
    <a:p>
      <a:pPr marL="0" marR="0" indent="0" defTabSz="914400" fontAlgn="auto" hangingPunct="1">
        <a:lnSpc>
          <a:spcPct val="100000"/>
        </a:lnSpc>
        <a:spcBef>
          <a:spcPts val="0"/>
        </a:spcBef>
        <a:spcAft>
          <a:spcPts val="0"/>
        </a:spcAft>
        <a:tabLst/>
        <a:defRPr lang="en-US" sz="1000" b="0" i="0" u="none" strike="noStrike" kern="1200" baseline="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B8E5C-13B0-4504-91A8-B1947AE85C43}" type="datetimeFigureOut">
              <a:rPr lang="en-US" smtClean="0"/>
              <a:t>8/24/2019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DADA9-D3F8-4C0C-A282-AED36EDCB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865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B8E5C-13B0-4504-91A8-B1947AE85C43}" type="datetimeFigureOut">
              <a:rPr lang="en-US" smtClean="0"/>
              <a:t>8/24/2019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DADA9-D3F8-4C0C-A282-AED36EDCB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632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B8E5C-13B0-4504-91A8-B1947AE85C43}" type="datetimeFigureOut">
              <a:rPr lang="en-US" smtClean="0"/>
              <a:t>8/24/2019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DADA9-D3F8-4C0C-A282-AED36EDCB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442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B8E5C-13B0-4504-91A8-B1947AE85C43}" type="datetimeFigureOut">
              <a:rPr lang="en-US" smtClean="0"/>
              <a:t>8/24/2019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DADA9-D3F8-4C0C-A282-AED36EDCB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297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B8E5C-13B0-4504-91A8-B1947AE85C43}" type="datetimeFigureOut">
              <a:rPr lang="en-US" smtClean="0"/>
              <a:t>8/24/2019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DADA9-D3F8-4C0C-A282-AED36EDCB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473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B8E5C-13B0-4504-91A8-B1947AE85C43}" type="datetimeFigureOut">
              <a:rPr lang="en-US" smtClean="0"/>
              <a:t>8/24/2019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DADA9-D3F8-4C0C-A282-AED36EDCB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929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B8E5C-13B0-4504-91A8-B1947AE85C43}" type="datetimeFigureOut">
              <a:rPr lang="en-US" smtClean="0"/>
              <a:t>8/24/2019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DADA9-D3F8-4C0C-A282-AED36EDCB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461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B8E5C-13B0-4504-91A8-B1947AE85C43}" type="datetimeFigureOut">
              <a:rPr lang="en-US" smtClean="0"/>
              <a:t>8/24/2019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DADA9-D3F8-4C0C-A282-AED36EDCB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696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B8E5C-13B0-4504-91A8-B1947AE85C43}" type="datetimeFigureOut">
              <a:rPr lang="en-US" smtClean="0"/>
              <a:t>8/24/2019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DADA9-D3F8-4C0C-A282-AED36EDCB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68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B8E5C-13B0-4504-91A8-B1947AE85C43}" type="datetimeFigureOut">
              <a:rPr lang="en-US" smtClean="0"/>
              <a:t>8/24/2019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DADA9-D3F8-4C0C-A282-AED36EDCB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036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B8E5C-13B0-4504-91A8-B1947AE85C43}" type="datetimeFigureOut">
              <a:rPr lang="en-US" smtClean="0"/>
              <a:t>8/24/2019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DADA9-D3F8-4C0C-A282-AED36EDCB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445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B8E5C-13B0-4504-91A8-B1947AE85C43}" type="datetimeFigureOut">
              <a:rPr lang="en-US" smtClean="0"/>
              <a:t>8/24/2019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8DADA9-D3F8-4C0C-A282-AED36EDCB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214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8F2BB-D63A-4459-8576-3A5B735C6D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Traffic Overhead Over the Network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94B74B-2B9D-4119-9B02-201200B2B9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Sammia Rauf</a:t>
            </a:r>
          </a:p>
        </p:txBody>
      </p:sp>
    </p:spTree>
    <p:extLst>
      <p:ext uri="{BB962C8B-B14F-4D97-AF65-F5344CB8AC3E}">
        <p14:creationId xmlns:p14="http://schemas.microsoft.com/office/powerpoint/2010/main" val="143790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9069036A-8F92-4D8C-8402-9D00DAFEAC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7362706"/>
              </p:ext>
            </p:extLst>
          </p:nvPr>
        </p:nvGraphicFramePr>
        <p:xfrm>
          <a:off x="471488" y="2649894"/>
          <a:ext cx="5915025" cy="43853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6E352D02-628A-4518-80AA-D47D8224D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Traffic overhead 10 Nodes</a:t>
            </a:r>
          </a:p>
        </p:txBody>
      </p:sp>
    </p:spTree>
    <p:extLst>
      <p:ext uri="{BB962C8B-B14F-4D97-AF65-F5344CB8AC3E}">
        <p14:creationId xmlns:p14="http://schemas.microsoft.com/office/powerpoint/2010/main" val="2936328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3B224-06E6-4F78-878A-37402A6BC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Traffic Overhead 20 Nodes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54702F25-9C3E-4A85-8AB6-83F4D78177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0299982"/>
              </p:ext>
            </p:extLst>
          </p:nvPr>
        </p:nvGraphicFramePr>
        <p:xfrm>
          <a:off x="471488" y="3004456"/>
          <a:ext cx="5915025" cy="4217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17635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0C416-33DA-493A-A0DC-AC6CCEF27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Traffic Overhead 30 Nodes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F66D4A35-29C1-446D-8DF3-A2AAD86D1B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9338097"/>
              </p:ext>
            </p:extLst>
          </p:nvPr>
        </p:nvGraphicFramePr>
        <p:xfrm>
          <a:off x="471489" y="2761862"/>
          <a:ext cx="5915024" cy="43667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43267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22EBC-4370-40DF-B38D-46AB57DC2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Throughput 10 Nodes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937271E-5562-4007-82D5-CEDFFD04A6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5810366"/>
              </p:ext>
            </p:extLst>
          </p:nvPr>
        </p:nvGraphicFramePr>
        <p:xfrm>
          <a:off x="471489" y="2593910"/>
          <a:ext cx="5915024" cy="43294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6854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7FD4D-06A9-4DE6-9D41-73C15F52B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Throughput 20 Nodes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69FD86EF-1E26-46FC-8638-FB08BE8FC5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4997632"/>
              </p:ext>
            </p:extLst>
          </p:nvPr>
        </p:nvGraphicFramePr>
        <p:xfrm>
          <a:off x="471489" y="2593910"/>
          <a:ext cx="5915024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95116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EF8EE-395B-4FE8-9017-09BD979A4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Throughput 30 Nodes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95C11B8E-A169-4461-B56E-18474406922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88501757"/>
              </p:ext>
            </p:extLst>
          </p:nvPr>
        </p:nvGraphicFramePr>
        <p:xfrm>
          <a:off x="471489" y="2254254"/>
          <a:ext cx="5915024" cy="43144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92377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E352D02-628A-4518-80AA-D47D8224D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Traffic overhead 40 Nodes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DC2BEDE-87D5-498C-AFEC-0450753B42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5724276"/>
              </p:ext>
            </p:extLst>
          </p:nvPr>
        </p:nvGraphicFramePr>
        <p:xfrm>
          <a:off x="471489" y="2254254"/>
          <a:ext cx="5915024" cy="45944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68005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3B224-06E6-4F78-878A-37402A6BC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Traffic Overhead 60 Nodes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79F8272-1203-4BD6-A3B5-42510F055B3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2931584"/>
              </p:ext>
            </p:extLst>
          </p:nvPr>
        </p:nvGraphicFramePr>
        <p:xfrm>
          <a:off x="471489" y="2537928"/>
          <a:ext cx="5915024" cy="47586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09673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0C416-33DA-493A-A0DC-AC6CCEF27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Traffic Overhead 80 Nodes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95AA1C83-87AA-4BC0-A3FF-88B6D7E660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8985351"/>
              </p:ext>
            </p:extLst>
          </p:nvPr>
        </p:nvGraphicFramePr>
        <p:xfrm>
          <a:off x="471488" y="2724539"/>
          <a:ext cx="5915025" cy="43667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52626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22EBC-4370-40DF-B38D-46AB57DC2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Throughput 40 Nodes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25C92C6-EC9E-43ED-ADE3-52A7288CCC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14006681"/>
              </p:ext>
            </p:extLst>
          </p:nvPr>
        </p:nvGraphicFramePr>
        <p:xfrm>
          <a:off x="471489" y="2254253"/>
          <a:ext cx="5915024" cy="49676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03590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7FD4D-06A9-4DE6-9D41-73C15F52B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Throughput 60 Nodes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6FA18668-D648-4569-B7E1-9A1A148720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4590945"/>
              </p:ext>
            </p:extLst>
          </p:nvPr>
        </p:nvGraphicFramePr>
        <p:xfrm>
          <a:off x="471489" y="2254254"/>
          <a:ext cx="5915024" cy="45011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93249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EF8EE-395B-4FE8-9017-09BD979A4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Throughput 80 Nodes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E06FB421-42EE-4B38-A1B4-58F8CA1A53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1075802"/>
              </p:ext>
            </p:extLst>
          </p:nvPr>
        </p:nvGraphicFramePr>
        <p:xfrm>
          <a:off x="471487" y="2254254"/>
          <a:ext cx="5915025" cy="49863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47119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</TotalTime>
  <Words>131</Words>
  <Application>Microsoft Office PowerPoint</Application>
  <PresentationFormat>Letter Paper (8.5x11 in)</PresentationFormat>
  <Paragraphs>50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Traffic Overhead Over the Network</vt:lpstr>
      <vt:lpstr>Control Traffic overhead 10 Nodes</vt:lpstr>
      <vt:lpstr>Control Traffic Overhead 20 Nodes</vt:lpstr>
      <vt:lpstr>Control Traffic Overhead 30 Nodes</vt:lpstr>
      <vt:lpstr>Throughput 10 Nodes</vt:lpstr>
      <vt:lpstr>Throughput 20 Nodes</vt:lpstr>
      <vt:lpstr>Throughput 30 Nodes</vt:lpstr>
      <vt:lpstr>Control Traffic overhead 40 Nodes</vt:lpstr>
      <vt:lpstr>Control Traffic Overhead 60 Nodes</vt:lpstr>
      <vt:lpstr>Control Traffic Overhead 80 Nodes</vt:lpstr>
      <vt:lpstr>Throughput 40 Nodes</vt:lpstr>
      <vt:lpstr>Throughput 60 Nodes</vt:lpstr>
      <vt:lpstr>Throughput 80 Nodes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Seemi Rauf</dc:creator>
  <cp:lastModifiedBy>Seemi Rauf</cp:lastModifiedBy>
  <cp:revision>6</cp:revision>
  <dcterms:created xsi:type="dcterms:W3CDTF">2018-12-09T08:22:03Z</dcterms:created>
  <dcterms:modified xsi:type="dcterms:W3CDTF">2019-08-24T06:56:51Z</dcterms:modified>
</cp:coreProperties>
</file>